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dfa50b79b24756" /><Relationship Type="http://schemas.openxmlformats.org/officeDocument/2006/relationships/extended-properties" Target="/docProps/app.xml" Id="R6541060442e74b3a" /><Relationship Type="http://schemas.openxmlformats.org/officeDocument/2006/relationships/officeDocument" Target="/ppt/presentation.xml" Id="Ra7df57c905f840a8" /></Relationships>
</file>

<file path=ppt/presentation.xml><?xml version="1.0" encoding="utf-8"?>
<p:presentation xmlns:p="http://schemas.openxmlformats.org/presentationml/2006/main">
  <p:sldMasterIdLst>
    <p:sldMasterId xmlns:r="http://schemas.openxmlformats.org/officeDocument/2006/relationships" id="2147483648" r:id="R97a66f529d994296"/>
  </p:sldMasterIdLst>
  <p:notesMasterIdLst>
    <p:notesMasterId xmlns:r="http://schemas.openxmlformats.org/officeDocument/2006/relationships" r:id="Rc28d7c80e2a847b6"/>
  </p:notesMasterIdLst>
  <p:sldIdLst>
    <p:sldId xmlns:r="http://schemas.openxmlformats.org/officeDocument/2006/relationships" id="256" r:id="R0c0a4f2a0d5d4336"/>
    <p:sldId xmlns:r="http://schemas.openxmlformats.org/officeDocument/2006/relationships" id="257" r:id="Rc7ec2afd440a44e1"/>
    <p:sldId xmlns:r="http://schemas.openxmlformats.org/officeDocument/2006/relationships" id="258" r:id="Rb2d65766ec8940b4"/>
    <p:sldId xmlns:r="http://schemas.openxmlformats.org/officeDocument/2006/relationships" id="259" r:id="Rb8c6d71877c74097"/>
    <p:sldId xmlns:r="http://schemas.openxmlformats.org/officeDocument/2006/relationships" id="260" r:id="R2bc43a1e7d624114"/>
    <p:sldId xmlns:r="http://schemas.openxmlformats.org/officeDocument/2006/relationships" id="261" r:id="R6cc541b669db4d4d"/>
    <p:sldId xmlns:r="http://schemas.openxmlformats.org/officeDocument/2006/relationships" id="262" r:id="R376240bdfadf42b8"/>
    <p:sldId xmlns:r="http://schemas.openxmlformats.org/officeDocument/2006/relationships" id="263" r:id="Re5012112c79f420c"/>
    <p:sldId xmlns:r="http://schemas.openxmlformats.org/officeDocument/2006/relationships" id="264" r:id="R19c5c1b6dc594e93"/>
    <p:sldId xmlns:r="http://schemas.openxmlformats.org/officeDocument/2006/relationships" id="265" r:id="Re006bd6c8d5f47ec"/>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492e1d93cb40e4" /><Relationship Type="http://schemas.openxmlformats.org/officeDocument/2006/relationships/slideMaster" Target="/ppt/slideMasters/slideMaster1.xml" Id="R97a66f529d994296" /><Relationship Type="http://schemas.openxmlformats.org/officeDocument/2006/relationships/notesMaster" Target="/ppt/notesMasters/notesMaster1.xml" Id="Rc28d7c80e2a847b6" /><Relationship Type="http://schemas.openxmlformats.org/officeDocument/2006/relationships/presProps" Target="/ppt/presProps.xml" Id="R728a1913dee14c1e" /><Relationship Type="http://schemas.openxmlformats.org/officeDocument/2006/relationships/tableStyles" Target="/ppt/tableStyles.xml" Id="Raece411a5f224064" /><Relationship Type="http://schemas.openxmlformats.org/officeDocument/2006/relationships/slide" Target="/ppt/slides/slide1.xml" Id="R0c0a4f2a0d5d4336" /><Relationship Type="http://schemas.openxmlformats.org/officeDocument/2006/relationships/slide" Target="/ppt/slides/slide2.xml" Id="Rc7ec2afd440a44e1" /><Relationship Type="http://schemas.openxmlformats.org/officeDocument/2006/relationships/slide" Target="/ppt/slides/slide3.xml" Id="Rb2d65766ec8940b4" /><Relationship Type="http://schemas.openxmlformats.org/officeDocument/2006/relationships/slide" Target="/ppt/slides/slide4.xml" Id="Rb8c6d71877c74097" /><Relationship Type="http://schemas.openxmlformats.org/officeDocument/2006/relationships/slide" Target="/ppt/slides/slide5.xml" Id="R2bc43a1e7d624114" /><Relationship Type="http://schemas.openxmlformats.org/officeDocument/2006/relationships/slide" Target="/ppt/slides/slide6.xml" Id="R6cc541b669db4d4d" /><Relationship Type="http://schemas.openxmlformats.org/officeDocument/2006/relationships/slide" Target="/ppt/slides/slide7.xml" Id="R376240bdfadf42b8" /><Relationship Type="http://schemas.openxmlformats.org/officeDocument/2006/relationships/slide" Target="/ppt/slides/slide8.xml" Id="Re5012112c79f420c" /><Relationship Type="http://schemas.openxmlformats.org/officeDocument/2006/relationships/slide" Target="/ppt/slides/slide9.xml" Id="R19c5c1b6dc594e93" /><Relationship Type="http://schemas.openxmlformats.org/officeDocument/2006/relationships/slide" Target="/ppt/slides/slide10.xml" Id="Re006bd6c8d5f47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6811422fc441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b137e09f5d49a7" /><Relationship Type="http://schemas.openxmlformats.org/officeDocument/2006/relationships/notesMaster" Target="/ppt/notesMasters/notesMaster1.xml" Id="Rfba4a70015264b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7c4eba298e4d96" /><Relationship Type="http://schemas.openxmlformats.org/officeDocument/2006/relationships/notesMaster" Target="/ppt/notesMasters/notesMaster1.xml" Id="R8940ea1dcf8243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db26e184a0457f" /><Relationship Type="http://schemas.openxmlformats.org/officeDocument/2006/relationships/notesMaster" Target="/ppt/notesMasters/notesMaster1.xml" Id="R4710f4f8c20e4a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48bada817e4166" /><Relationship Type="http://schemas.openxmlformats.org/officeDocument/2006/relationships/notesMaster" Target="/ppt/notesMasters/notesMaster1.xml" Id="R68b04e832bfb4d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cca357bab2412d" /><Relationship Type="http://schemas.openxmlformats.org/officeDocument/2006/relationships/notesMaster" Target="/ppt/notesMasters/notesMaster1.xml" Id="R080e57ca335f4b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467fde67df4371" /><Relationship Type="http://schemas.openxmlformats.org/officeDocument/2006/relationships/notesMaster" Target="/ppt/notesMasters/notesMaster1.xml" Id="R661e0416508e4b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dc7adb94524eb6" /><Relationship Type="http://schemas.openxmlformats.org/officeDocument/2006/relationships/notesMaster" Target="/ppt/notesMasters/notesMaster1.xml" Id="R58bd7b6308534f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1dd1597b6446b5" /><Relationship Type="http://schemas.openxmlformats.org/officeDocument/2006/relationships/notesMaster" Target="/ppt/notesMasters/notesMaster1.xml" Id="R2ac46d6b2fd84f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d04813986841ce" /><Relationship Type="http://schemas.openxmlformats.org/officeDocument/2006/relationships/notesMaster" Target="/ppt/notesMasters/notesMaster1.xml" Id="R7ec8b424e64a41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e1a4fd485214610" /><Relationship Type="http://schemas.openxmlformats.org/officeDocument/2006/relationships/notesMaster" Target="/ppt/notesMasters/notesMaster1.xml" Id="Ra6e7444795074d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67255782bc45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2f6cc607414bfd" /><Relationship Type="http://schemas.openxmlformats.org/officeDocument/2006/relationships/slideLayout" Target="/ppt/slideLayouts/slideLayout1.xml" Id="Rba28ab959ed84a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28ab959ed84a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a1307c3189470b" /><Relationship Type="http://schemas.openxmlformats.org/officeDocument/2006/relationships/image" Target="/ppt/media/image.png" Id="Rd2e6f8205e7d4fbe" /><Relationship Type="http://schemas.openxmlformats.org/officeDocument/2006/relationships/notesSlide" Target="/ppt/notesSlides/notesSlide1.xml" Id="R882a3e75ad4f47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3e35eb1bf54bf2" /><Relationship Type="http://schemas.openxmlformats.org/officeDocument/2006/relationships/image" Target="/ppt/media/image2.png" Id="R79b140791c384417" /><Relationship Type="http://schemas.openxmlformats.org/officeDocument/2006/relationships/notesSlide" Target="/ppt/notesSlides/notesSlide2.xml" Id="R8ea843957fb14e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5c041a4ed9f4f39" /><Relationship Type="http://schemas.openxmlformats.org/officeDocument/2006/relationships/image" Target="/ppt/media/image3.png" Id="Reb34a0f8d3ab4b22" /><Relationship Type="http://schemas.openxmlformats.org/officeDocument/2006/relationships/notesSlide" Target="/ppt/notesSlides/notesSlide3.xml" Id="R9eef2e88c21c4b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60f16edf564071" /><Relationship Type="http://schemas.openxmlformats.org/officeDocument/2006/relationships/image" Target="/ppt/media/image4.png" Id="R3fec4cb2e0e048e4" /><Relationship Type="http://schemas.openxmlformats.org/officeDocument/2006/relationships/notesSlide" Target="/ppt/notesSlides/notesSlide4.xml" Id="Rb31f02b4f07e40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aca50ccd48b492e" /><Relationship Type="http://schemas.openxmlformats.org/officeDocument/2006/relationships/image" Target="/ppt/media/image5.png" Id="R8ea56b15a457469e" /><Relationship Type="http://schemas.openxmlformats.org/officeDocument/2006/relationships/notesSlide" Target="/ppt/notesSlides/notesSlide5.xml" Id="R62effa193a8741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8a096dfacc14726" /><Relationship Type="http://schemas.openxmlformats.org/officeDocument/2006/relationships/image" Target="/ppt/media/image6.png" Id="Rafb7b6d0828140d9" /><Relationship Type="http://schemas.openxmlformats.org/officeDocument/2006/relationships/notesSlide" Target="/ppt/notesSlides/notesSlide6.xml" Id="R65010b88754843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76dbc066fd3484e" /><Relationship Type="http://schemas.openxmlformats.org/officeDocument/2006/relationships/image" Target="/ppt/media/image7.png" Id="Rf13acf4a657e4ae6" /><Relationship Type="http://schemas.openxmlformats.org/officeDocument/2006/relationships/notesSlide" Target="/ppt/notesSlides/notesSlide7.xml" Id="R4afc74f0a55041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da97adb897a4fb6" /><Relationship Type="http://schemas.openxmlformats.org/officeDocument/2006/relationships/image" Target="/ppt/media/image8.png" Id="Rdfad86874e4d4738" /><Relationship Type="http://schemas.openxmlformats.org/officeDocument/2006/relationships/notesSlide" Target="/ppt/notesSlides/notesSlide8.xml" Id="R910f843482144c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816cfe7f6ac4911" /><Relationship Type="http://schemas.openxmlformats.org/officeDocument/2006/relationships/image" Target="/ppt/media/image9.png" Id="R3a1fa6e45e9447ea" /><Relationship Type="http://schemas.openxmlformats.org/officeDocument/2006/relationships/notesSlide" Target="/ppt/notesSlides/notesSlide9.xml" Id="Rc5ce091f29474e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5c19c0e5be54d08" /><Relationship Type="http://schemas.openxmlformats.org/officeDocument/2006/relationships/image" Target="/ppt/media/image10.png" Id="Rdb9974b885384c39" /><Relationship Type="http://schemas.openxmlformats.org/officeDocument/2006/relationships/notesSlide" Target="/ppt/notesSlides/notesSlide10.xml" Id="Rdf242b4ccfc5493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2e6f8205e7d4fbe"/>
          <a:srcRect xmlns:a="http://schemas.openxmlformats.org/drawingml/2006/main" l="0" t="15" r="0" b="15"/>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AD43D78-482E-45CC-906D-D8570D180F71}"/>
              </a:ext>
            </a:extLst>
          </p:cNvPr>
          <p:cNvSpPr>
            <a:spLocks xmlns:a="http://schemas.openxmlformats.org/drawingml/2006/main" noGrp="1"/>
          </p:cNvSpPr>
          <p:nvPr/>
        </p:nvSpPr>
        <p:spPr>
          <a:xfrm xmlns:a="http://schemas.openxmlformats.org/drawingml/2006/main">
            <a:off x="2857500" y="2714625"/>
            <a:ext cx="8191500" cy="3095625"/>
          </a:xfrm>
          <a:prstGeom xmlns:a="http://schemas.openxmlformats.org/drawingml/2006/main" prst="roundRect">
            <a:avLst>
              <a:gd name="adj" fmla="val 3692"/>
            </a:avLst>
          </a:prstGeom>
          <a:solidFill xmlns:a="http://schemas.openxmlformats.org/drawingml/2006/main">
            <a:srgbClr val="FFFFFF"/>
          </a:solidFill>
          <a:ln xmlns:a="http://schemas.openxmlformats.org/drawingml/2006/main" w="9525">
            <a:solidFill>
              <a:srgbClr val="DCEBFB"/>
            </a:solidFill>
            <a:prstDash val="solid"/>
          </a:ln>
        </p:spPr>
      </p:sp>
      <p:sp>
        <p:nvSpPr>
          <p:cNvPr id="3" name="">
            <a:extLst xmlns:a="http://schemas.openxmlformats.org/drawingml/2006/main">
              <a:ext uri="{FF2B5EF4-FFF2-40B4-BE49-F238E27FC236}">
                <a16:creationId xmlns:a16="http://schemas.microsoft.com/office/drawing/2014/main" id="{8AE7F522-A7E5-4FA2-8419-613045D70BFB}"/>
              </a:ext>
            </a:extLst>
          </p:cNvPr>
          <p:cNvSpPr>
            <a:spLocks xmlns:a="http://schemas.openxmlformats.org/drawingml/2006/main" noGrp="1"/>
          </p:cNvSpPr>
          <p:nvPr/>
        </p:nvSpPr>
        <p:spPr>
          <a:xfrm xmlns:a="http://schemas.openxmlformats.org/drawingml/2006/main">
            <a:off x="3429000" y="3067050"/>
            <a:ext cx="723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650" b="1" i="0">
                <a:solidFill>
                  <a:srgbClr val="10141E"/>
                </a:solidFill>
              </a:defRPr>
            </a:pPr>
            <a:r>
              <a:rPr sz="4650" b="1" i="0">
                <a:solidFill>
                  <a:srgbClr val="10141E"/>
                </a:solidFill>
              </a:rPr>
              <a:t>The Falcons</a:t>
            </a:r>
          </a:p>
        </p:txBody>
      </p:sp>
      <p:sp>
        <p:nvSpPr>
          <p:cNvPr id="4" name="">
            <a:extLst xmlns:a="http://schemas.openxmlformats.org/drawingml/2006/main">
              <a:ext uri="{FF2B5EF4-FFF2-40B4-BE49-F238E27FC236}">
                <a16:creationId xmlns:a16="http://schemas.microsoft.com/office/drawing/2014/main" id="{11AD4507-456A-4722-B9BC-E6DBEA2C8710}"/>
              </a:ext>
            </a:extLst>
          </p:cNvPr>
          <p:cNvSpPr>
            <a:spLocks xmlns:a="http://schemas.openxmlformats.org/drawingml/2006/main" noGrp="1"/>
          </p:cNvSpPr>
          <p:nvPr/>
        </p:nvSpPr>
        <p:spPr>
          <a:xfrm xmlns:a="http://schemas.openxmlformats.org/drawingml/2006/main">
            <a:off x="3333750" y="3905250"/>
            <a:ext cx="742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i="0">
                <a:solidFill>
                  <a:srgbClr val="4292E8"/>
                </a:solidFill>
              </a:defRPr>
            </a:pPr>
            <a:r>
              <a:rPr sz="2100" b="1" i="0">
                <a:solidFill>
                  <a:srgbClr val="4292E8"/>
                </a:solidFill>
              </a:rPr>
              <a:t>ORBIT — Real-time AI Incident Commander</a:t>
            </a:r>
          </a:p>
        </p:txBody>
      </p:sp>
      <p:sp>
        <p:nvSpPr>
          <p:cNvPr id="5" name="">
            <a:extLst xmlns:a="http://schemas.openxmlformats.org/drawingml/2006/main">
              <a:ext uri="{FF2B5EF4-FFF2-40B4-BE49-F238E27FC236}">
                <a16:creationId xmlns:a16="http://schemas.microsoft.com/office/drawing/2014/main" id="{E69FAEC1-3E53-4DA5-BC61-E135B2D89495}"/>
              </a:ext>
            </a:extLst>
          </p:cNvPr>
          <p:cNvSpPr>
            <a:spLocks xmlns:a="http://schemas.openxmlformats.org/drawingml/2006/main" noGrp="1"/>
          </p:cNvSpPr>
          <p:nvPr/>
        </p:nvSpPr>
        <p:spPr>
          <a:xfrm xmlns:a="http://schemas.openxmlformats.org/drawingml/2006/main">
            <a:off x="3429000" y="4362450"/>
            <a:ext cx="7239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i="0">
                <a:solidFill>
                  <a:srgbClr val="3E4655"/>
                </a:solidFill>
              </a:defRPr>
            </a:pPr>
            <a:r>
              <a:rPr sz="1350" b="0" i="0">
                <a:solidFill>
                  <a:srgbClr val="3E4655"/>
                </a:solidFill>
              </a:rPr>
              <a:t>Operational Response &amp; Briefing Intelligence Team</a:t>
            </a:r>
          </a:p>
        </p:txBody>
      </p:sp>
      <p:sp>
        <p:nvSpPr>
          <p:cNvPr id="6" name="">
            <a:extLst xmlns:a="http://schemas.openxmlformats.org/drawingml/2006/main">
              <a:ext uri="{FF2B5EF4-FFF2-40B4-BE49-F238E27FC236}">
                <a16:creationId xmlns:a16="http://schemas.microsoft.com/office/drawing/2014/main" id="{7A0D5389-EBBE-4244-AF8A-CE1F5881EE50}"/>
              </a:ext>
            </a:extLst>
          </p:cNvPr>
          <p:cNvSpPr>
            <a:spLocks xmlns:a="http://schemas.openxmlformats.org/drawingml/2006/main" noGrp="1"/>
          </p:cNvSpPr>
          <p:nvPr/>
        </p:nvSpPr>
        <p:spPr>
          <a:xfrm xmlns:a="http://schemas.openxmlformats.org/drawingml/2006/main">
            <a:off x="3429000" y="4686300"/>
            <a:ext cx="7239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i="0">
                <a:solidFill>
                  <a:srgbClr val="3E4655"/>
                </a:solidFill>
              </a:defRPr>
            </a:pPr>
            <a:r>
              <a:rPr sz="1500" b="0" i="0">
                <a:solidFill>
                  <a:srgbClr val="3E4655"/>
                </a:solidFill>
              </a:rPr>
              <a:t>PS41 | EchoSphere Hackathon 2026</a:t>
            </a:r>
          </a:p>
        </p:txBody>
      </p:sp>
      <p:sp>
        <p:nvSpPr>
          <p:cNvPr id="7" name="">
            <a:extLst xmlns:a="http://schemas.openxmlformats.org/drawingml/2006/main">
              <a:ext uri="{FF2B5EF4-FFF2-40B4-BE49-F238E27FC236}">
                <a16:creationId xmlns:a16="http://schemas.microsoft.com/office/drawing/2014/main" id="{A421F82A-12C2-41F9-9B7E-A04B508E9AE5}"/>
              </a:ext>
            </a:extLst>
          </p:cNvPr>
          <p:cNvSpPr>
            <a:spLocks xmlns:a="http://schemas.openxmlformats.org/drawingml/2006/main" noGrp="1"/>
          </p:cNvSpPr>
          <p:nvPr/>
        </p:nvSpPr>
        <p:spPr>
          <a:xfrm xmlns:a="http://schemas.openxmlformats.org/drawingml/2006/main">
            <a:off x="3429000" y="5095875"/>
            <a:ext cx="7239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i="0">
                <a:solidFill>
                  <a:srgbClr val="3E4655"/>
                </a:solidFill>
              </a:defRPr>
            </a:pPr>
            <a:r>
              <a:rPr sz="1425" b="0" i="0">
                <a:solidFill>
                  <a:srgbClr val="3E4655"/>
                </a:solidFill>
              </a:rPr>
              <a:t>Fuzail Ahmad  •  Lakshya Garg  •  Aryan Rai</a:t>
            </a:r>
          </a:p>
        </p:txBody>
      </p:sp>
    </p:spTree>
    <p:extLst>
      <p:ext uri="{BB962C8B-B14F-4D97-AF65-F5344CB8AC3E}">
        <p14:creationId xmlns:p14="http://schemas.microsoft.com/office/powerpoint/2010/main" val="211148295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9b140791c384417"/>
          <a:srcRect xmlns:a="http://schemas.openxmlformats.org/drawingml/2006/main" l="0" t="15" r="0" b="15"/>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96E979B-6AFE-4681-B981-AE3F0A42A594}"/>
              </a:ext>
            </a:extLst>
          </p:cNvPr>
          <p:cNvSpPr>
            <a:spLocks xmlns:a="http://schemas.openxmlformats.org/drawingml/2006/main" noGrp="1"/>
          </p:cNvSpPr>
          <p:nvPr/>
        </p:nvSpPr>
        <p:spPr>
          <a:xfrm xmlns:a="http://schemas.openxmlformats.org/drawingml/2006/main">
            <a:off x="2762250" y="39052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0" i="0">
                <a:solidFill>
                  <a:srgbClr val="10141E"/>
                </a:solidFill>
              </a:defRPr>
            </a:pPr>
            <a:r>
              <a:rPr sz="1575" b="0" i="0">
                <a:solidFill>
                  <a:srgbClr val="10141E"/>
                </a:solidFill>
              </a:rPr>
              <a:t>1</a:t>
            </a:r>
          </a:p>
        </p:txBody>
      </p:sp>
      <p:sp>
        <p:nvSpPr>
          <p:cNvPr id="3" name="">
            <a:extLst xmlns:a="http://schemas.openxmlformats.org/drawingml/2006/main">
              <a:ext uri="{FF2B5EF4-FFF2-40B4-BE49-F238E27FC236}">
                <a16:creationId xmlns:a16="http://schemas.microsoft.com/office/drawing/2014/main" id="{D9123C38-F8FE-4CBC-9C96-0D25B0171741}"/>
              </a:ext>
            </a:extLst>
          </p:cNvPr>
          <p:cNvSpPr>
            <a:spLocks xmlns:a="http://schemas.openxmlformats.org/drawingml/2006/main" noGrp="1"/>
          </p:cNvSpPr>
          <p:nvPr/>
        </p:nvSpPr>
        <p:spPr>
          <a:xfrm xmlns:a="http://schemas.openxmlformats.org/drawingml/2006/main">
            <a:off x="4000500" y="39052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i="0">
                <a:solidFill>
                  <a:srgbClr val="10141E"/>
                </a:solidFill>
              </a:defRPr>
            </a:pPr>
            <a:r>
              <a:rPr sz="1575" b="0" i="0">
                <a:solidFill>
                  <a:srgbClr val="10141E"/>
                </a:solidFill>
              </a:rPr>
              <a:t>Fuzail Ahmad</a:t>
            </a:r>
          </a:p>
        </p:txBody>
      </p:sp>
      <p:sp>
        <p:nvSpPr>
          <p:cNvPr id="4" name="">
            <a:extLst xmlns:a="http://schemas.openxmlformats.org/drawingml/2006/main">
              <a:ext uri="{FF2B5EF4-FFF2-40B4-BE49-F238E27FC236}">
                <a16:creationId xmlns:a16="http://schemas.microsoft.com/office/drawing/2014/main" id="{3C930854-EA40-48C9-B679-3A6D2D7FC438}"/>
              </a:ext>
            </a:extLst>
          </p:cNvPr>
          <p:cNvSpPr>
            <a:spLocks xmlns:a="http://schemas.openxmlformats.org/drawingml/2006/main" noGrp="1"/>
          </p:cNvSpPr>
          <p:nvPr/>
        </p:nvSpPr>
        <p:spPr>
          <a:xfrm xmlns:a="http://schemas.openxmlformats.org/drawingml/2006/main">
            <a:off x="7429500" y="39052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i="0">
                <a:solidFill>
                  <a:srgbClr val="10141E"/>
                </a:solidFill>
              </a:defRPr>
            </a:pPr>
            <a:r>
              <a:rPr sz="1500" b="0" i="0">
                <a:solidFill>
                  <a:srgbClr val="10141E"/>
                </a:solidFill>
              </a:rPr>
              <a:t>Product &amp; AI Orchestration</a:t>
            </a:r>
          </a:p>
        </p:txBody>
      </p:sp>
      <p:sp>
        <p:nvSpPr>
          <p:cNvPr id="5" name="">
            <a:extLst xmlns:a="http://schemas.openxmlformats.org/drawingml/2006/main">
              <a:ext uri="{FF2B5EF4-FFF2-40B4-BE49-F238E27FC236}">
                <a16:creationId xmlns:a16="http://schemas.microsoft.com/office/drawing/2014/main" id="{6E1F442A-5CE5-4213-BBB9-F4A1CACF8D78}"/>
              </a:ext>
            </a:extLst>
          </p:cNvPr>
          <p:cNvSpPr>
            <a:spLocks xmlns:a="http://schemas.openxmlformats.org/drawingml/2006/main" noGrp="1"/>
          </p:cNvSpPr>
          <p:nvPr/>
        </p:nvSpPr>
        <p:spPr>
          <a:xfrm xmlns:a="http://schemas.openxmlformats.org/drawingml/2006/main">
            <a:off x="10953750" y="39052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i="0">
                <a:solidFill>
                  <a:srgbClr val="10141E"/>
                </a:solidFill>
              </a:defRPr>
            </a:pPr>
            <a:r>
              <a:rPr sz="1125" b="0" i="0">
                <a:solidFill>
                  <a:srgbClr val="10141E"/>
                </a:solidFill>
              </a:rPr>
              <a:t>fuzailahmad2006@gmail.com</a:t>
            </a:r>
          </a:p>
        </p:txBody>
      </p:sp>
      <p:sp>
        <p:nvSpPr>
          <p:cNvPr id="6" name="">
            <a:extLst xmlns:a="http://schemas.openxmlformats.org/drawingml/2006/main">
              <a:ext uri="{FF2B5EF4-FFF2-40B4-BE49-F238E27FC236}">
                <a16:creationId xmlns:a16="http://schemas.microsoft.com/office/drawing/2014/main" id="{6AC9E698-8CD8-4535-963D-6E2789F001B6}"/>
              </a:ext>
            </a:extLst>
          </p:cNvPr>
          <p:cNvSpPr>
            <a:spLocks xmlns:a="http://schemas.openxmlformats.org/drawingml/2006/main" noGrp="1"/>
          </p:cNvSpPr>
          <p:nvPr/>
        </p:nvSpPr>
        <p:spPr>
          <a:xfrm xmlns:a="http://schemas.openxmlformats.org/drawingml/2006/main">
            <a:off x="2762250" y="457200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0" i="0">
                <a:solidFill>
                  <a:srgbClr val="10141E"/>
                </a:solidFill>
              </a:defRPr>
            </a:pPr>
            <a:r>
              <a:rPr sz="1575" b="0" i="0">
                <a:solidFill>
                  <a:srgbClr val="10141E"/>
                </a:solidFill>
              </a:rPr>
              <a:t>2</a:t>
            </a:r>
          </a:p>
        </p:txBody>
      </p:sp>
      <p:sp>
        <p:nvSpPr>
          <p:cNvPr id="7" name="">
            <a:extLst xmlns:a="http://schemas.openxmlformats.org/drawingml/2006/main">
              <a:ext uri="{FF2B5EF4-FFF2-40B4-BE49-F238E27FC236}">
                <a16:creationId xmlns:a16="http://schemas.microsoft.com/office/drawing/2014/main" id="{14F00097-E33B-4696-A8F2-819FC002BDAC}"/>
              </a:ext>
            </a:extLst>
          </p:cNvPr>
          <p:cNvSpPr>
            <a:spLocks xmlns:a="http://schemas.openxmlformats.org/drawingml/2006/main" noGrp="1"/>
          </p:cNvSpPr>
          <p:nvPr/>
        </p:nvSpPr>
        <p:spPr>
          <a:xfrm xmlns:a="http://schemas.openxmlformats.org/drawingml/2006/main">
            <a:off x="4000500" y="457200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i="0">
                <a:solidFill>
                  <a:srgbClr val="10141E"/>
                </a:solidFill>
              </a:defRPr>
            </a:pPr>
            <a:r>
              <a:rPr sz="1575" b="0" i="0">
                <a:solidFill>
                  <a:srgbClr val="10141E"/>
                </a:solidFill>
              </a:rPr>
              <a:t>Lakshya Garg</a:t>
            </a:r>
          </a:p>
        </p:txBody>
      </p:sp>
      <p:sp>
        <p:nvSpPr>
          <p:cNvPr id="8" name="">
            <a:extLst xmlns:a="http://schemas.openxmlformats.org/drawingml/2006/main">
              <a:ext uri="{FF2B5EF4-FFF2-40B4-BE49-F238E27FC236}">
                <a16:creationId xmlns:a16="http://schemas.microsoft.com/office/drawing/2014/main" id="{92D4C921-59A2-415D-9277-A27F8962F6A7}"/>
              </a:ext>
            </a:extLst>
          </p:cNvPr>
          <p:cNvSpPr>
            <a:spLocks xmlns:a="http://schemas.openxmlformats.org/drawingml/2006/main" noGrp="1"/>
          </p:cNvSpPr>
          <p:nvPr/>
        </p:nvSpPr>
        <p:spPr>
          <a:xfrm xmlns:a="http://schemas.openxmlformats.org/drawingml/2006/main">
            <a:off x="7429500" y="45720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i="0">
                <a:solidFill>
                  <a:srgbClr val="10141E"/>
                </a:solidFill>
              </a:defRPr>
            </a:pPr>
            <a:r>
              <a:rPr sz="1500" b="0" i="0">
                <a:solidFill>
                  <a:srgbClr val="10141E"/>
                </a:solidFill>
              </a:rPr>
              <a:t>Real-time Voice &amp; Backend</a:t>
            </a:r>
          </a:p>
        </p:txBody>
      </p:sp>
      <p:sp>
        <p:nvSpPr>
          <p:cNvPr id="9" name="">
            <a:extLst xmlns:a="http://schemas.openxmlformats.org/drawingml/2006/main">
              <a:ext uri="{FF2B5EF4-FFF2-40B4-BE49-F238E27FC236}">
                <a16:creationId xmlns:a16="http://schemas.microsoft.com/office/drawing/2014/main" id="{D721DBAA-5FDA-4F30-AD93-5B1D3176FC91}"/>
              </a:ext>
            </a:extLst>
          </p:cNvPr>
          <p:cNvSpPr>
            <a:spLocks xmlns:a="http://schemas.openxmlformats.org/drawingml/2006/main" noGrp="1"/>
          </p:cNvSpPr>
          <p:nvPr/>
        </p:nvSpPr>
        <p:spPr>
          <a:xfrm xmlns:a="http://schemas.openxmlformats.org/drawingml/2006/main">
            <a:off x="10953750" y="45720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i="0">
                <a:solidFill>
                  <a:srgbClr val="10141E"/>
                </a:solidFill>
              </a:defRPr>
            </a:pPr>
            <a:r>
              <a:rPr sz="1125" b="0" i="0">
                <a:solidFill>
                  <a:srgbClr val="10141E"/>
                </a:solidFill>
              </a:rPr>
              <a:t>lgarg7112@gmail.com</a:t>
            </a:r>
          </a:p>
        </p:txBody>
      </p:sp>
      <p:sp>
        <p:nvSpPr>
          <p:cNvPr id="10" name="">
            <a:extLst xmlns:a="http://schemas.openxmlformats.org/drawingml/2006/main">
              <a:ext uri="{FF2B5EF4-FFF2-40B4-BE49-F238E27FC236}">
                <a16:creationId xmlns:a16="http://schemas.microsoft.com/office/drawing/2014/main" id="{A711FA46-F223-420C-A8A1-E9CA1DB0338C}"/>
              </a:ext>
            </a:extLst>
          </p:cNvPr>
          <p:cNvSpPr>
            <a:spLocks xmlns:a="http://schemas.openxmlformats.org/drawingml/2006/main" noGrp="1"/>
          </p:cNvSpPr>
          <p:nvPr/>
        </p:nvSpPr>
        <p:spPr>
          <a:xfrm xmlns:a="http://schemas.openxmlformats.org/drawingml/2006/main">
            <a:off x="2762250" y="52387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0" i="0">
                <a:solidFill>
                  <a:srgbClr val="10141E"/>
                </a:solidFill>
              </a:defRPr>
            </a:pPr>
            <a:r>
              <a:rPr sz="1575" b="0" i="0">
                <a:solidFill>
                  <a:srgbClr val="10141E"/>
                </a:solidFill>
              </a:rPr>
              <a:t>3</a:t>
            </a:r>
          </a:p>
        </p:txBody>
      </p:sp>
      <p:sp>
        <p:nvSpPr>
          <p:cNvPr id="11" name="">
            <a:extLst xmlns:a="http://schemas.openxmlformats.org/drawingml/2006/main">
              <a:ext uri="{FF2B5EF4-FFF2-40B4-BE49-F238E27FC236}">
                <a16:creationId xmlns:a16="http://schemas.microsoft.com/office/drawing/2014/main" id="{4DDDA65A-D9A5-4D20-A27A-FA18E4E77F71}"/>
              </a:ext>
            </a:extLst>
          </p:cNvPr>
          <p:cNvSpPr>
            <a:spLocks xmlns:a="http://schemas.openxmlformats.org/drawingml/2006/main" noGrp="1"/>
          </p:cNvSpPr>
          <p:nvPr/>
        </p:nvSpPr>
        <p:spPr>
          <a:xfrm xmlns:a="http://schemas.openxmlformats.org/drawingml/2006/main">
            <a:off x="4000500" y="52387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i="0">
                <a:solidFill>
                  <a:srgbClr val="10141E"/>
                </a:solidFill>
              </a:defRPr>
            </a:pPr>
            <a:r>
              <a:rPr sz="1575" b="0" i="0">
                <a:solidFill>
                  <a:srgbClr val="10141E"/>
                </a:solidFill>
              </a:rPr>
              <a:t>Aryan Rai</a:t>
            </a:r>
          </a:p>
        </p:txBody>
      </p:sp>
      <p:sp>
        <p:nvSpPr>
          <p:cNvPr id="12" name="">
            <a:extLst xmlns:a="http://schemas.openxmlformats.org/drawingml/2006/main">
              <a:ext uri="{FF2B5EF4-FFF2-40B4-BE49-F238E27FC236}">
                <a16:creationId xmlns:a16="http://schemas.microsoft.com/office/drawing/2014/main" id="{BE2C4B99-AFCB-446E-9C11-E438957D1F0D}"/>
              </a:ext>
            </a:extLst>
          </p:cNvPr>
          <p:cNvSpPr>
            <a:spLocks xmlns:a="http://schemas.openxmlformats.org/drawingml/2006/main" noGrp="1"/>
          </p:cNvSpPr>
          <p:nvPr/>
        </p:nvSpPr>
        <p:spPr>
          <a:xfrm xmlns:a="http://schemas.openxmlformats.org/drawingml/2006/main">
            <a:off x="7429500" y="52387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i="0">
                <a:solidFill>
                  <a:srgbClr val="10141E"/>
                </a:solidFill>
              </a:defRPr>
            </a:pPr>
            <a:r>
              <a:rPr sz="1500" b="0" i="0">
                <a:solidFill>
                  <a:srgbClr val="10141E"/>
                </a:solidFill>
              </a:rPr>
              <a:t>Frontend &amp; Integrations</a:t>
            </a:r>
          </a:p>
        </p:txBody>
      </p:sp>
      <p:sp>
        <p:nvSpPr>
          <p:cNvPr id="13" name="">
            <a:extLst xmlns:a="http://schemas.openxmlformats.org/drawingml/2006/main">
              <a:ext uri="{FF2B5EF4-FFF2-40B4-BE49-F238E27FC236}">
                <a16:creationId xmlns:a16="http://schemas.microsoft.com/office/drawing/2014/main" id="{A1B9C616-D5F6-4771-9600-86CFEEA75CEF}"/>
              </a:ext>
            </a:extLst>
          </p:cNvPr>
          <p:cNvSpPr>
            <a:spLocks xmlns:a="http://schemas.openxmlformats.org/drawingml/2006/main" noGrp="1"/>
          </p:cNvSpPr>
          <p:nvPr/>
        </p:nvSpPr>
        <p:spPr>
          <a:xfrm xmlns:a="http://schemas.openxmlformats.org/drawingml/2006/main">
            <a:off x="10953750" y="52387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i="0">
                <a:solidFill>
                  <a:srgbClr val="10141E"/>
                </a:solidFill>
              </a:defRPr>
            </a:pPr>
            <a:r>
              <a:rPr sz="1125" b="0" i="0">
                <a:solidFill>
                  <a:srgbClr val="10141E"/>
                </a:solidFill>
              </a:rPr>
              <a:t>aryanbrijrajrai@gmail.com</a:t>
            </a:r>
          </a:p>
        </p:txBody>
      </p:sp>
    </p:spTree>
    <p:extLst>
      <p:ext uri="{BB962C8B-B14F-4D97-AF65-F5344CB8AC3E}">
        <p14:creationId xmlns:p14="http://schemas.microsoft.com/office/powerpoint/2010/main" val="73740260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b34a0f8d3ab4b22"/>
          <a:srcRect xmlns:a="http://schemas.openxmlformats.org/drawingml/2006/main" l="0" t="15" r="0" b="15"/>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352C944-EC57-45C6-BCD7-588692FFF1BF}"/>
              </a:ext>
            </a:extLst>
          </p:cNvPr>
          <p:cNvSpPr>
            <a:spLocks xmlns:a="http://schemas.openxmlformats.org/drawingml/2006/main" noGrp="1"/>
          </p:cNvSpPr>
          <p:nvPr/>
        </p:nvSpPr>
        <p:spPr>
          <a:xfrm xmlns:a="http://schemas.openxmlformats.org/drawingml/2006/main">
            <a:off x="1619250" y="3143250"/>
            <a:ext cx="1181100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CEBFB"/>
            </a:solidFill>
            <a:prstDash val="solid"/>
          </a:ln>
        </p:spPr>
      </p:sp>
      <p:sp>
        <p:nvSpPr>
          <p:cNvPr id="3" name="">
            <a:extLst xmlns:a="http://schemas.openxmlformats.org/drawingml/2006/main">
              <a:ext uri="{FF2B5EF4-FFF2-40B4-BE49-F238E27FC236}">
                <a16:creationId xmlns:a16="http://schemas.microsoft.com/office/drawing/2014/main" id="{C72EE1A0-42F4-4FBE-815E-E10EDDC743CD}"/>
              </a:ext>
            </a:extLst>
          </p:cNvPr>
          <p:cNvSpPr>
            <a:spLocks xmlns:a="http://schemas.openxmlformats.org/drawingml/2006/main" noGrp="1"/>
          </p:cNvSpPr>
          <p:nvPr/>
        </p:nvSpPr>
        <p:spPr>
          <a:xfrm xmlns:a="http://schemas.openxmlformats.org/drawingml/2006/main">
            <a:off x="2190750" y="3429000"/>
            <a:ext cx="695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i="0">
                <a:solidFill>
                  <a:srgbClr val="10141E"/>
                </a:solidFill>
              </a:defRPr>
            </a:pPr>
            <a:r>
              <a:rPr sz="2100" b="1" i="0">
                <a:solidFill>
                  <a:srgbClr val="10141E"/>
                </a:solidFill>
              </a:rPr>
              <a:t>Track Chosen: Voice AI</a:t>
            </a:r>
          </a:p>
        </p:txBody>
      </p:sp>
      <p:sp>
        <p:nvSpPr>
          <p:cNvPr id="4" name="">
            <a:extLst xmlns:a="http://schemas.openxmlformats.org/drawingml/2006/main">
              <a:ext uri="{FF2B5EF4-FFF2-40B4-BE49-F238E27FC236}">
                <a16:creationId xmlns:a16="http://schemas.microsoft.com/office/drawing/2014/main" id="{7526BCAA-73D7-49BD-B33E-1A999C25D27D}"/>
              </a:ext>
            </a:extLst>
          </p:cNvPr>
          <p:cNvSpPr>
            <a:spLocks xmlns:a="http://schemas.openxmlformats.org/drawingml/2006/main" noGrp="1"/>
          </p:cNvSpPr>
          <p:nvPr/>
        </p:nvSpPr>
        <p:spPr>
          <a:xfrm xmlns:a="http://schemas.openxmlformats.org/drawingml/2006/main">
            <a:off x="2190750" y="4000500"/>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i="0">
                <a:solidFill>
                  <a:srgbClr val="4292E8"/>
                </a:solidFill>
              </a:defRPr>
            </a:pPr>
            <a:r>
              <a:rPr sz="2400" b="1" i="0">
                <a:solidFill>
                  <a:srgbClr val="4292E8"/>
                </a:solidFill>
              </a:rPr>
              <a:t>PS41 — Real-time AI Incident Commander</a:t>
            </a:r>
          </a:p>
        </p:txBody>
      </p:sp>
      <p:sp>
        <p:nvSpPr>
          <p:cNvPr id="5" name="">
            <a:extLst xmlns:a="http://schemas.openxmlformats.org/drawingml/2006/main">
              <a:ext uri="{FF2B5EF4-FFF2-40B4-BE49-F238E27FC236}">
                <a16:creationId xmlns:a16="http://schemas.microsoft.com/office/drawing/2014/main" id="{0E1813D5-034D-43BE-84AE-9AA8CF76369F}"/>
              </a:ext>
            </a:extLst>
          </p:cNvPr>
          <p:cNvSpPr>
            <a:spLocks xmlns:a="http://schemas.openxmlformats.org/drawingml/2006/main" noGrp="1"/>
          </p:cNvSpPr>
          <p:nvPr/>
        </p:nvSpPr>
        <p:spPr>
          <a:xfrm xmlns:a="http://schemas.openxmlformats.org/drawingml/2006/main">
            <a:off x="2190750" y="4686300"/>
            <a:ext cx="685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3E4655"/>
                </a:solidFill>
              </a:defRPr>
            </a:pPr>
            <a:r>
              <a:rPr sz="1875" b="0" i="0">
                <a:solidFill>
                  <a:srgbClr val="3E4655"/>
                </a:solidFill>
              </a:rPr>
              <a:t>An AI teammate for live operational and technical incident rooms — built to maintain shared truth, ownership, and momentum during high-pressure outages.</a:t>
            </a:r>
          </a:p>
        </p:txBody>
      </p:sp>
      <p:sp>
        <p:nvSpPr>
          <p:cNvPr id="6" name="">
            <a:extLst xmlns:a="http://schemas.openxmlformats.org/drawingml/2006/main">
              <a:ext uri="{FF2B5EF4-FFF2-40B4-BE49-F238E27FC236}">
                <a16:creationId xmlns:a16="http://schemas.microsoft.com/office/drawing/2014/main" id="{116FAA91-0CCC-42AC-AF54-59A0AFA06DA6}"/>
              </a:ext>
            </a:extLst>
          </p:cNvPr>
          <p:cNvSpPr>
            <a:spLocks xmlns:a="http://schemas.openxmlformats.org/drawingml/2006/main" noGrp="1"/>
          </p:cNvSpPr>
          <p:nvPr/>
        </p:nvSpPr>
        <p:spPr>
          <a:xfrm xmlns:a="http://schemas.openxmlformats.org/drawingml/2006/main">
            <a:off x="2190750" y="5810250"/>
            <a:ext cx="5238750" cy="323850"/>
          </a:xfrm>
          <a:prstGeom xmlns:a="http://schemas.openxmlformats.org/drawingml/2006/main" prst="roundRect">
            <a:avLst>
              <a:gd name="adj" fmla="val 50000"/>
            </a:avLst>
          </a:prstGeom>
          <a:solidFill xmlns:a="http://schemas.openxmlformats.org/drawingml/2006/main">
            <a:srgbClr val="EAF5FF"/>
          </a:solidFill>
          <a:ln xmlns:a="http://schemas.openxmlformats.org/drawingml/2006/main" w="9525">
            <a:solidFill>
              <a:srgbClr val="A8D4FF"/>
            </a:solidFill>
            <a:prstDash val="solid"/>
          </a:ln>
        </p:spPr>
      </p:sp>
      <p:sp>
        <p:nvSpPr>
          <p:cNvPr id="7" name="">
            <a:extLst xmlns:a="http://schemas.openxmlformats.org/drawingml/2006/main">
              <a:ext uri="{FF2B5EF4-FFF2-40B4-BE49-F238E27FC236}">
                <a16:creationId xmlns:a16="http://schemas.microsoft.com/office/drawing/2014/main" id="{A475C4ED-AA48-4651-8340-49E0F2562E11}"/>
              </a:ext>
            </a:extLst>
          </p:cNvPr>
          <p:cNvSpPr>
            <a:spLocks xmlns:a="http://schemas.openxmlformats.org/drawingml/2006/main" noGrp="1"/>
          </p:cNvSpPr>
          <p:nvPr/>
        </p:nvSpPr>
        <p:spPr>
          <a:xfrm xmlns:a="http://schemas.openxmlformats.org/drawingml/2006/main">
            <a:off x="2305050" y="5838825"/>
            <a:ext cx="501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4292E8"/>
                </a:solidFill>
              </a:defRPr>
            </a:pPr>
            <a:r>
              <a:rPr sz="1125" b="1" i="0">
                <a:solidFill>
                  <a:srgbClr val="4292E8"/>
                </a:solidFill>
              </a:rPr>
              <a:t>Agora Conversational AI = core real-time voice layer</a:t>
            </a:r>
          </a:p>
        </p:txBody>
      </p:sp>
    </p:spTree>
    <p:extLst>
      <p:ext uri="{BB962C8B-B14F-4D97-AF65-F5344CB8AC3E}">
        <p14:creationId xmlns:p14="http://schemas.microsoft.com/office/powerpoint/2010/main" val="154003228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3fec4cb2e0e048e4"/>
          <a:srcRect xmlns:a="http://schemas.openxmlformats.org/drawingml/2006/main" l="0" t="15" r="0" b="15"/>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50DC77-6D5E-44FB-8E98-3842C11085F6}"/>
              </a:ext>
            </a:extLst>
          </p:cNvPr>
          <p:cNvSpPr>
            <a:spLocks xmlns:a="http://schemas.openxmlformats.org/drawingml/2006/main" noGrp="1"/>
          </p:cNvSpPr>
          <p:nvPr/>
        </p:nvSpPr>
        <p:spPr>
          <a:xfrm xmlns:a="http://schemas.openxmlformats.org/drawingml/2006/main">
            <a:off x="1714500" y="3143250"/>
            <a:ext cx="10858500" cy="247650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DCEBFB"/>
            </a:solidFill>
            <a:prstDash val="solid"/>
          </a:ln>
        </p:spPr>
      </p:sp>
      <p:sp>
        <p:nvSpPr>
          <p:cNvPr id="3" name="">
            <a:extLst xmlns:a="http://schemas.openxmlformats.org/drawingml/2006/main">
              <a:ext uri="{FF2B5EF4-FFF2-40B4-BE49-F238E27FC236}">
                <a16:creationId xmlns:a16="http://schemas.microsoft.com/office/drawing/2014/main" id="{BC77D008-2B13-4927-BD9F-0C237E6547FA}"/>
              </a:ext>
            </a:extLst>
          </p:cNvPr>
          <p:cNvSpPr>
            <a:spLocks xmlns:a="http://schemas.openxmlformats.org/drawingml/2006/main" noGrp="1"/>
          </p:cNvSpPr>
          <p:nvPr/>
        </p:nvSpPr>
        <p:spPr>
          <a:xfrm xmlns:a="http://schemas.openxmlformats.org/drawingml/2006/main">
            <a:off x="2333625" y="3476625"/>
            <a:ext cx="7524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0" i="0">
                <a:solidFill>
                  <a:srgbClr val="10141E"/>
                </a:solidFill>
              </a:defRPr>
            </a:pPr>
            <a:r>
              <a:rPr sz="2025" b="0" i="0">
                <a:solidFill>
                  <a:srgbClr val="10141E"/>
                </a:solidFill>
              </a:rPr>
              <a:t>During an outage, teams speak in fragments: facts mix with guesses, owners are unclear, decisions vanish, and updates arrive late. This slows recovery and erodes trust. Existing incident rooms capture conversation, not a defensible shared operating picture — especially when evidence conflicts and critical actions require human approval.</a:t>
            </a:r>
          </a:p>
        </p:txBody>
      </p:sp>
      <p:sp>
        <p:nvSpPr>
          <p:cNvPr id="4" name="">
            <a:extLst xmlns:a="http://schemas.openxmlformats.org/drawingml/2006/main">
              <a:ext uri="{FF2B5EF4-FFF2-40B4-BE49-F238E27FC236}">
                <a16:creationId xmlns:a16="http://schemas.microsoft.com/office/drawing/2014/main" id="{BD13A6A7-DB93-47A3-A53D-BCFFDA1FB3BA}"/>
              </a:ext>
            </a:extLst>
          </p:cNvPr>
          <p:cNvSpPr>
            <a:spLocks xmlns:a="http://schemas.openxmlformats.org/drawingml/2006/main" noGrp="1"/>
          </p:cNvSpPr>
          <p:nvPr/>
        </p:nvSpPr>
        <p:spPr>
          <a:xfrm xmlns:a="http://schemas.openxmlformats.org/drawingml/2006/main">
            <a:off x="2333625" y="52387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4292E8"/>
                </a:solidFill>
              </a:defRPr>
            </a:pPr>
            <a:r>
              <a:rPr sz="1200" b="1" i="0">
                <a:solidFill>
                  <a:srgbClr val="4292E8"/>
                </a:solidFill>
              </a:rPr>
              <a:t>50-word problem description</a:t>
            </a:r>
          </a:p>
        </p:txBody>
      </p:sp>
    </p:spTree>
    <p:extLst>
      <p:ext uri="{BB962C8B-B14F-4D97-AF65-F5344CB8AC3E}">
        <p14:creationId xmlns:p14="http://schemas.microsoft.com/office/powerpoint/2010/main" val="150439662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8ea56b15a457469e"/>
          <a:srcRect xmlns:a="http://schemas.openxmlformats.org/drawingml/2006/main" l="0" t="15" r="0" b="15"/>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4215CCC-F3A1-4AC2-8DB4-90B3C7B65031}"/>
              </a:ext>
            </a:extLst>
          </p:cNvPr>
          <p:cNvSpPr>
            <a:spLocks xmlns:a="http://schemas.openxmlformats.org/drawingml/2006/main" noGrp="1"/>
          </p:cNvSpPr>
          <p:nvPr/>
        </p:nvSpPr>
        <p:spPr>
          <a:xfrm xmlns:a="http://schemas.openxmlformats.org/drawingml/2006/main">
            <a:off x="1238250" y="3095625"/>
            <a:ext cx="11334750" cy="3381375"/>
          </a:xfrm>
          <a:prstGeom xmlns:a="http://schemas.openxmlformats.org/drawingml/2006/main" prst="roundRect">
            <a:avLst>
              <a:gd name="adj" fmla="val 3380"/>
            </a:avLst>
          </a:prstGeom>
          <a:solidFill xmlns:a="http://schemas.openxmlformats.org/drawingml/2006/main">
            <a:srgbClr val="FFFFFF"/>
          </a:solidFill>
          <a:ln xmlns:a="http://schemas.openxmlformats.org/drawingml/2006/main" w="9525">
            <a:solidFill>
              <a:srgbClr val="DCEBFB"/>
            </a:solidFill>
            <a:prstDash val="solid"/>
          </a:ln>
        </p:spPr>
      </p:sp>
      <p:sp>
        <p:nvSpPr>
          <p:cNvPr id="3" name="">
            <a:extLst xmlns:a="http://schemas.openxmlformats.org/drawingml/2006/main">
              <a:ext uri="{FF2B5EF4-FFF2-40B4-BE49-F238E27FC236}">
                <a16:creationId xmlns:a16="http://schemas.microsoft.com/office/drawing/2014/main" id="{ABD30C71-869C-4C6B-A859-6BA57B393684}"/>
              </a:ext>
            </a:extLst>
          </p:cNvPr>
          <p:cNvSpPr>
            <a:spLocks xmlns:a="http://schemas.openxmlformats.org/drawingml/2006/main" noGrp="1"/>
          </p:cNvSpPr>
          <p:nvPr/>
        </p:nvSpPr>
        <p:spPr>
          <a:xfrm xmlns:a="http://schemas.openxmlformats.org/drawingml/2006/main">
            <a:off x="1857375" y="3429000"/>
            <a:ext cx="8572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i="0">
                <a:solidFill>
                  <a:srgbClr val="10141E"/>
                </a:solidFill>
              </a:defRPr>
            </a:pPr>
            <a:r>
              <a:rPr sz="1725" b="0" i="0">
                <a:solidFill>
                  <a:srgbClr val="10141E"/>
                </a:solidFill>
              </a:rPr>
              <a:t>ORBIT joins an Agora-powered live incident room as a multilingual conversational AI teammate. It recognizes speakers and roles, structures every update as a confirmed fact, hypothesis, decision, or action, and maintains a live Incident Digital Twin with provenance and confidence. Specialized agents reconcile conflicts, expose what is still unknown, build the timeline, track owners, retrieve runbooks and similar incidents, and call approved tools across Slack, Jira, PagerDuty, and monitoring. The Commander speaks concise status summaries at useful moments, while human approval gates every critical action. ORBIT never claims a root cause without evidence: it organizes, correlates, recommends, and keeps the team aligned until recovery and post-incident review.</a:t>
            </a:r>
          </a:p>
        </p:txBody>
      </p:sp>
      <p:sp>
        <p:nvSpPr>
          <p:cNvPr id="4" name="">
            <a:extLst xmlns:a="http://schemas.openxmlformats.org/drawingml/2006/main">
              <a:ext uri="{FF2B5EF4-FFF2-40B4-BE49-F238E27FC236}">
                <a16:creationId xmlns:a16="http://schemas.microsoft.com/office/drawing/2014/main" id="{536E0504-FAB0-4335-AF6A-121150054A3E}"/>
              </a:ext>
            </a:extLst>
          </p:cNvPr>
          <p:cNvSpPr>
            <a:spLocks xmlns:a="http://schemas.openxmlformats.org/drawingml/2006/main" noGrp="1"/>
          </p:cNvSpPr>
          <p:nvPr/>
        </p:nvSpPr>
        <p:spPr>
          <a:xfrm xmlns:a="http://schemas.openxmlformats.org/drawingml/2006/main">
            <a:off x="1857375" y="59055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4292E8"/>
                </a:solidFill>
              </a:defRPr>
            </a:pPr>
            <a:r>
              <a:rPr sz="1200" b="1" i="0">
                <a:solidFill>
                  <a:srgbClr val="4292E8"/>
                </a:solidFill>
              </a:rPr>
              <a:t>Proposed solution / idea overview (134 words)</a:t>
            </a:r>
          </a:p>
        </p:txBody>
      </p:sp>
    </p:spTree>
    <p:extLst>
      <p:ext uri="{BB962C8B-B14F-4D97-AF65-F5344CB8AC3E}">
        <p14:creationId xmlns:p14="http://schemas.microsoft.com/office/powerpoint/2010/main" val="85034044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fb7b6d0828140d9"/>
          <a:srcRect xmlns:a="http://schemas.openxmlformats.org/drawingml/2006/main" l="0" t="15" r="0" b="15"/>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B5D2976-5FCC-4EBA-A414-598266DD15FE}"/>
              </a:ext>
            </a:extLst>
          </p:cNvPr>
          <p:cNvSpPr>
            <a:spLocks xmlns:a="http://schemas.openxmlformats.org/drawingml/2006/main" noGrp="1"/>
          </p:cNvSpPr>
          <p:nvPr/>
        </p:nvSpPr>
        <p:spPr>
          <a:xfrm xmlns:a="http://schemas.openxmlformats.org/drawingml/2006/main">
            <a:off x="1047750" y="2381250"/>
            <a:ext cx="11906250" cy="4667250"/>
          </a:xfrm>
          <a:prstGeom xmlns:a="http://schemas.openxmlformats.org/drawingml/2006/main" prst="roundRect">
            <a:avLst>
              <a:gd name="adj" fmla="val 2449"/>
            </a:avLst>
          </a:prstGeom>
          <a:solidFill xmlns:a="http://schemas.openxmlformats.org/drawingml/2006/main">
            <a:srgbClr val="FFFFFF"/>
          </a:solidFill>
          <a:ln xmlns:a="http://schemas.openxmlformats.org/drawingml/2006/main" w="9525">
            <a:solidFill>
              <a:srgbClr val="DCEBFB"/>
            </a:solidFill>
            <a:prstDash val="solid"/>
          </a:ln>
        </p:spPr>
      </p:sp>
      <p:sp>
        <p:nvSpPr>
          <p:cNvPr id="3" name="">
            <a:extLst xmlns:a="http://schemas.openxmlformats.org/drawingml/2006/main">
              <a:ext uri="{FF2B5EF4-FFF2-40B4-BE49-F238E27FC236}">
                <a16:creationId xmlns:a16="http://schemas.microsoft.com/office/drawing/2014/main" id="{2261D21D-36DE-4733-B1BC-9F686F087D2E}"/>
              </a:ext>
            </a:extLst>
          </p:cNvPr>
          <p:cNvSpPr>
            <a:spLocks xmlns:a="http://schemas.openxmlformats.org/drawingml/2006/main" noGrp="1"/>
          </p:cNvSpPr>
          <p:nvPr/>
        </p:nvSpPr>
        <p:spPr>
          <a:xfrm xmlns:a="http://schemas.openxmlformats.org/drawingml/2006/main">
            <a:off x="1428750" y="2619375"/>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i="0">
                <a:solidFill>
                  <a:srgbClr val="4292E8"/>
                </a:solidFill>
              </a:defRPr>
            </a:pPr>
            <a:r>
              <a:rPr sz="1800" b="1" i="0">
                <a:solidFill>
                  <a:srgbClr val="4292E8"/>
                </a:solidFill>
              </a:rPr>
              <a:t>Technical Architecture</a:t>
            </a:r>
          </a:p>
        </p:txBody>
      </p:sp>
      <p:sp>
        <p:nvSpPr>
          <p:cNvPr id="4" name="">
            <a:extLst xmlns:a="http://schemas.openxmlformats.org/drawingml/2006/main">
              <a:ext uri="{FF2B5EF4-FFF2-40B4-BE49-F238E27FC236}">
                <a16:creationId xmlns:a16="http://schemas.microsoft.com/office/drawing/2014/main" id="{481429EA-D232-4454-94BE-116507271E66}"/>
              </a:ext>
            </a:extLst>
          </p:cNvPr>
          <p:cNvSpPr>
            <a:spLocks xmlns:a="http://schemas.openxmlformats.org/drawingml/2006/main" noGrp="1"/>
          </p:cNvSpPr>
          <p:nvPr/>
        </p:nvSpPr>
        <p:spPr>
          <a:xfrm xmlns:a="http://schemas.openxmlformats.org/drawingml/2006/main">
            <a:off x="1428750" y="3000375"/>
            <a:ext cx="1000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4292E8"/>
                </a:solidFill>
              </a:defRPr>
            </a:pPr>
            <a:r>
              <a:rPr sz="3000" b="1" i="0">
                <a:solidFill>
                  <a:srgbClr val="4292E8"/>
                </a:solidFill>
              </a:rPr>
              <a:t>One live room. One trusted incident state.</a:t>
            </a:r>
          </a:p>
        </p:txBody>
      </p:sp>
      <p:sp>
        <p:nvSpPr>
          <p:cNvPr id="5" name="">
            <a:extLst xmlns:a="http://schemas.openxmlformats.org/drawingml/2006/main">
              <a:ext uri="{FF2B5EF4-FFF2-40B4-BE49-F238E27FC236}">
                <a16:creationId xmlns:a16="http://schemas.microsoft.com/office/drawing/2014/main" id="{7E559B67-FE99-47A7-A908-B473AE257B7A}"/>
              </a:ext>
            </a:extLst>
          </p:cNvPr>
          <p:cNvSpPr>
            <a:spLocks xmlns:a="http://schemas.openxmlformats.org/drawingml/2006/main" noGrp="1"/>
          </p:cNvSpPr>
          <p:nvPr/>
        </p:nvSpPr>
        <p:spPr>
          <a:xfrm xmlns:a="http://schemas.openxmlformats.org/drawingml/2006/main">
            <a:off x="1381125" y="3857625"/>
            <a:ext cx="2381250" cy="1524000"/>
          </a:xfrm>
          <a:prstGeom xmlns:a="http://schemas.openxmlformats.org/drawingml/2006/main" prst="roundRect">
            <a:avLst>
              <a:gd name="adj" fmla="val 7500"/>
            </a:avLst>
          </a:prstGeom>
          <a:solidFill xmlns:a="http://schemas.openxmlformats.org/drawingml/2006/main">
            <a:srgbClr val="F4FAFF"/>
          </a:solidFill>
          <a:ln xmlns:a="http://schemas.openxmlformats.org/drawingml/2006/main" w="19050">
            <a:solidFill>
              <a:srgbClr val="92C8F5"/>
            </a:solidFill>
            <a:prstDash val="solid"/>
          </a:ln>
        </p:spPr>
      </p:sp>
      <p:sp>
        <p:nvSpPr>
          <p:cNvPr id="6" name="">
            <a:extLst xmlns:a="http://schemas.openxmlformats.org/drawingml/2006/main">
              <a:ext uri="{FF2B5EF4-FFF2-40B4-BE49-F238E27FC236}">
                <a16:creationId xmlns:a16="http://schemas.microsoft.com/office/drawing/2014/main" id="{06EEED01-5E82-4518-9863-B7E72316CC32}"/>
              </a:ext>
            </a:extLst>
          </p:cNvPr>
          <p:cNvSpPr>
            <a:spLocks xmlns:a="http://schemas.openxmlformats.org/drawingml/2006/main" noGrp="1"/>
          </p:cNvSpPr>
          <p:nvPr/>
        </p:nvSpPr>
        <p:spPr>
          <a:xfrm xmlns:a="http://schemas.openxmlformats.org/drawingml/2006/main">
            <a:off x="1552575" y="40005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4292E8"/>
                </a:solidFill>
              </a:defRPr>
            </a:pPr>
            <a:r>
              <a:rPr sz="1350" b="1" i="0">
                <a:solidFill>
                  <a:srgbClr val="4292E8"/>
                </a:solidFill>
              </a:rPr>
              <a:t>1</a:t>
            </a:r>
          </a:p>
        </p:txBody>
      </p:sp>
      <p:sp>
        <p:nvSpPr>
          <p:cNvPr id="7" name="">
            <a:extLst xmlns:a="http://schemas.openxmlformats.org/drawingml/2006/main">
              <a:ext uri="{FF2B5EF4-FFF2-40B4-BE49-F238E27FC236}">
                <a16:creationId xmlns:a16="http://schemas.microsoft.com/office/drawing/2014/main" id="{4F4B225B-7AAC-46CE-93FF-6B86EA440A7F}"/>
              </a:ext>
            </a:extLst>
          </p:cNvPr>
          <p:cNvSpPr>
            <a:spLocks xmlns:a="http://schemas.openxmlformats.org/drawingml/2006/main" noGrp="1"/>
          </p:cNvSpPr>
          <p:nvPr/>
        </p:nvSpPr>
        <p:spPr>
          <a:xfrm xmlns:a="http://schemas.openxmlformats.org/drawingml/2006/main">
            <a:off x="1552575" y="4324350"/>
            <a:ext cx="2047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i="0">
                <a:solidFill>
                  <a:srgbClr val="10141E"/>
                </a:solidFill>
              </a:defRPr>
            </a:pPr>
            <a:r>
              <a:rPr sz="1575" b="1" i="0">
                <a:solidFill>
                  <a:srgbClr val="10141E"/>
                </a:solidFill>
              </a:rPr>
              <a:t>Agora Conversational AI</a:t>
            </a:r>
          </a:p>
        </p:txBody>
      </p:sp>
      <p:sp>
        <p:nvSpPr>
          <p:cNvPr id="8" name="">
            <a:extLst xmlns:a="http://schemas.openxmlformats.org/drawingml/2006/main">
              <a:ext uri="{FF2B5EF4-FFF2-40B4-BE49-F238E27FC236}">
                <a16:creationId xmlns:a16="http://schemas.microsoft.com/office/drawing/2014/main" id="{771A1277-1D5A-4908-A89F-5961AF7AACBB}"/>
              </a:ext>
            </a:extLst>
          </p:cNvPr>
          <p:cNvSpPr>
            <a:spLocks xmlns:a="http://schemas.openxmlformats.org/drawingml/2006/main" noGrp="1"/>
          </p:cNvSpPr>
          <p:nvPr/>
        </p:nvSpPr>
        <p:spPr>
          <a:xfrm xmlns:a="http://schemas.openxmlformats.org/drawingml/2006/main">
            <a:off x="1552575" y="48577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3E4655"/>
                </a:solidFill>
              </a:defRPr>
            </a:pPr>
            <a:r>
              <a:rPr sz="1200" b="0" i="0">
                <a:solidFill>
                  <a:srgbClr val="3E4655"/>
                </a:solidFill>
              </a:rPr>
              <a:t>Live voice, diarization, multilingual speech</a:t>
            </a:r>
          </a:p>
        </p:txBody>
      </p:sp>
      <p:sp>
        <p:nvSpPr>
          <p:cNvPr id="9" name="">
            <a:extLst xmlns:a="http://schemas.openxmlformats.org/drawingml/2006/main">
              <a:ext uri="{FF2B5EF4-FFF2-40B4-BE49-F238E27FC236}">
                <a16:creationId xmlns:a16="http://schemas.microsoft.com/office/drawing/2014/main" id="{5C994BE4-1AC3-4446-90C4-F3F7FEFD603C}"/>
              </a:ext>
            </a:extLst>
          </p:cNvPr>
          <p:cNvSpPr>
            <a:spLocks xmlns:a="http://schemas.openxmlformats.org/drawingml/2006/main" noGrp="1"/>
          </p:cNvSpPr>
          <p:nvPr/>
        </p:nvSpPr>
        <p:spPr>
          <a:xfrm xmlns:a="http://schemas.openxmlformats.org/drawingml/2006/main">
            <a:off x="3800475" y="4381500"/>
            <a:ext cx="28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i="0">
                <a:solidFill>
                  <a:srgbClr val="4292E8"/>
                </a:solidFill>
              </a:defRPr>
            </a:pPr>
            <a:r>
              <a:rPr sz="2400" b="1" i="0">
                <a:solidFill>
                  <a:srgbClr val="4292E8"/>
                </a:solidFill>
              </a:rPr>
              <a:t>→</a:t>
            </a:r>
          </a:p>
        </p:txBody>
      </p:sp>
      <p:sp>
        <p:nvSpPr>
          <p:cNvPr id="10" name="">
            <a:extLst xmlns:a="http://schemas.openxmlformats.org/drawingml/2006/main">
              <a:ext uri="{FF2B5EF4-FFF2-40B4-BE49-F238E27FC236}">
                <a16:creationId xmlns:a16="http://schemas.microsoft.com/office/drawing/2014/main" id="{FC4E4046-8E39-4833-BF30-989C27F17751}"/>
              </a:ext>
            </a:extLst>
          </p:cNvPr>
          <p:cNvSpPr>
            <a:spLocks xmlns:a="http://schemas.openxmlformats.org/drawingml/2006/main" noGrp="1"/>
          </p:cNvSpPr>
          <p:nvPr/>
        </p:nvSpPr>
        <p:spPr>
          <a:xfrm xmlns:a="http://schemas.openxmlformats.org/drawingml/2006/main">
            <a:off x="4191000" y="3857625"/>
            <a:ext cx="2381250" cy="1524000"/>
          </a:xfrm>
          <a:prstGeom xmlns:a="http://schemas.openxmlformats.org/drawingml/2006/main" prst="roundRect">
            <a:avLst>
              <a:gd name="adj" fmla="val 7500"/>
            </a:avLst>
          </a:prstGeom>
          <a:solidFill xmlns:a="http://schemas.openxmlformats.org/drawingml/2006/main">
            <a:srgbClr val="F4FAFF"/>
          </a:solidFill>
          <a:ln xmlns:a="http://schemas.openxmlformats.org/drawingml/2006/main" w="19050">
            <a:solidFill>
              <a:srgbClr val="92C8F5"/>
            </a:solidFill>
            <a:prstDash val="solid"/>
          </a:ln>
        </p:spPr>
      </p:sp>
      <p:sp>
        <p:nvSpPr>
          <p:cNvPr id="11" name="">
            <a:extLst xmlns:a="http://schemas.openxmlformats.org/drawingml/2006/main">
              <a:ext uri="{FF2B5EF4-FFF2-40B4-BE49-F238E27FC236}">
                <a16:creationId xmlns:a16="http://schemas.microsoft.com/office/drawing/2014/main" id="{B1E9D050-5AFB-4BAA-A125-1940D41B3911}"/>
              </a:ext>
            </a:extLst>
          </p:cNvPr>
          <p:cNvSpPr>
            <a:spLocks xmlns:a="http://schemas.openxmlformats.org/drawingml/2006/main" noGrp="1"/>
          </p:cNvSpPr>
          <p:nvPr/>
        </p:nvSpPr>
        <p:spPr>
          <a:xfrm xmlns:a="http://schemas.openxmlformats.org/drawingml/2006/main">
            <a:off x="4362450" y="40005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4292E8"/>
                </a:solidFill>
              </a:defRPr>
            </a:pPr>
            <a:r>
              <a:rPr sz="1350" b="1" i="0">
                <a:solidFill>
                  <a:srgbClr val="4292E8"/>
                </a:solidFill>
              </a:rPr>
              <a:t>2</a:t>
            </a:r>
          </a:p>
        </p:txBody>
      </p:sp>
      <p:sp>
        <p:nvSpPr>
          <p:cNvPr id="12" name="">
            <a:extLst xmlns:a="http://schemas.openxmlformats.org/drawingml/2006/main">
              <a:ext uri="{FF2B5EF4-FFF2-40B4-BE49-F238E27FC236}">
                <a16:creationId xmlns:a16="http://schemas.microsoft.com/office/drawing/2014/main" id="{40383F6F-D6BE-4B80-9B52-6AFF04ECE118}"/>
              </a:ext>
            </a:extLst>
          </p:cNvPr>
          <p:cNvSpPr>
            <a:spLocks xmlns:a="http://schemas.openxmlformats.org/drawingml/2006/main" noGrp="1"/>
          </p:cNvSpPr>
          <p:nvPr/>
        </p:nvSpPr>
        <p:spPr>
          <a:xfrm xmlns:a="http://schemas.openxmlformats.org/drawingml/2006/main">
            <a:off x="4362450" y="4324350"/>
            <a:ext cx="2047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i="0">
                <a:solidFill>
                  <a:srgbClr val="10141E"/>
                </a:solidFill>
              </a:defRPr>
            </a:pPr>
            <a:r>
              <a:rPr sz="1575" b="1" i="0">
                <a:solidFill>
                  <a:srgbClr val="10141E"/>
                </a:solidFill>
              </a:rPr>
              <a:t>Commander + specialist agents</a:t>
            </a:r>
          </a:p>
        </p:txBody>
      </p:sp>
      <p:sp>
        <p:nvSpPr>
          <p:cNvPr id="13" name="">
            <a:extLst xmlns:a="http://schemas.openxmlformats.org/drawingml/2006/main">
              <a:ext uri="{FF2B5EF4-FFF2-40B4-BE49-F238E27FC236}">
                <a16:creationId xmlns:a16="http://schemas.microsoft.com/office/drawing/2014/main" id="{B2BBCED0-EDE3-4338-A0D4-85851BD825C8}"/>
              </a:ext>
            </a:extLst>
          </p:cNvPr>
          <p:cNvSpPr>
            <a:spLocks xmlns:a="http://schemas.openxmlformats.org/drawingml/2006/main" noGrp="1"/>
          </p:cNvSpPr>
          <p:nvPr/>
        </p:nvSpPr>
        <p:spPr>
          <a:xfrm xmlns:a="http://schemas.openxmlformats.org/drawingml/2006/main">
            <a:off x="4362450" y="48577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3E4655"/>
                </a:solidFill>
              </a:defRPr>
            </a:pPr>
            <a:r>
              <a:rPr sz="1200" b="0" i="0">
                <a:solidFill>
                  <a:srgbClr val="3E4655"/>
                </a:solidFill>
              </a:rPr>
              <a:t>Listen, classify, investigate, coordinate</a:t>
            </a:r>
          </a:p>
        </p:txBody>
      </p:sp>
      <p:sp>
        <p:nvSpPr>
          <p:cNvPr id="14" name="">
            <a:extLst xmlns:a="http://schemas.openxmlformats.org/drawingml/2006/main">
              <a:ext uri="{FF2B5EF4-FFF2-40B4-BE49-F238E27FC236}">
                <a16:creationId xmlns:a16="http://schemas.microsoft.com/office/drawing/2014/main" id="{C0329827-7515-49AA-BB46-91D2B5700B2F}"/>
              </a:ext>
            </a:extLst>
          </p:cNvPr>
          <p:cNvSpPr>
            <a:spLocks xmlns:a="http://schemas.openxmlformats.org/drawingml/2006/main" noGrp="1"/>
          </p:cNvSpPr>
          <p:nvPr/>
        </p:nvSpPr>
        <p:spPr>
          <a:xfrm xmlns:a="http://schemas.openxmlformats.org/drawingml/2006/main">
            <a:off x="6610350" y="4381500"/>
            <a:ext cx="28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i="0">
                <a:solidFill>
                  <a:srgbClr val="4292E8"/>
                </a:solidFill>
              </a:defRPr>
            </a:pPr>
            <a:r>
              <a:rPr sz="2400" b="1" i="0">
                <a:solidFill>
                  <a:srgbClr val="4292E8"/>
                </a:solidFill>
              </a:rPr>
              <a:t>→</a:t>
            </a:r>
          </a:p>
        </p:txBody>
      </p:sp>
      <p:sp>
        <p:nvSpPr>
          <p:cNvPr id="15" name="">
            <a:extLst xmlns:a="http://schemas.openxmlformats.org/drawingml/2006/main">
              <a:ext uri="{FF2B5EF4-FFF2-40B4-BE49-F238E27FC236}">
                <a16:creationId xmlns:a16="http://schemas.microsoft.com/office/drawing/2014/main" id="{DDE10A49-E00A-4F45-90BA-7C750AAB2FF8}"/>
              </a:ext>
            </a:extLst>
          </p:cNvPr>
          <p:cNvSpPr>
            <a:spLocks xmlns:a="http://schemas.openxmlformats.org/drawingml/2006/main" noGrp="1"/>
          </p:cNvSpPr>
          <p:nvPr/>
        </p:nvSpPr>
        <p:spPr>
          <a:xfrm xmlns:a="http://schemas.openxmlformats.org/drawingml/2006/main">
            <a:off x="7000875" y="3857625"/>
            <a:ext cx="2381250" cy="1524000"/>
          </a:xfrm>
          <a:prstGeom xmlns:a="http://schemas.openxmlformats.org/drawingml/2006/main" prst="roundRect">
            <a:avLst>
              <a:gd name="adj" fmla="val 7500"/>
            </a:avLst>
          </a:prstGeom>
          <a:solidFill xmlns:a="http://schemas.openxmlformats.org/drawingml/2006/main">
            <a:srgbClr val="F4FAFF"/>
          </a:solidFill>
          <a:ln xmlns:a="http://schemas.openxmlformats.org/drawingml/2006/main" w="19050">
            <a:solidFill>
              <a:srgbClr val="92C8F5"/>
            </a:solidFill>
            <a:prstDash val="solid"/>
          </a:ln>
        </p:spPr>
      </p:sp>
      <p:sp>
        <p:nvSpPr>
          <p:cNvPr id="16" name="">
            <a:extLst xmlns:a="http://schemas.openxmlformats.org/drawingml/2006/main">
              <a:ext uri="{FF2B5EF4-FFF2-40B4-BE49-F238E27FC236}">
                <a16:creationId xmlns:a16="http://schemas.microsoft.com/office/drawing/2014/main" id="{7A8DB05B-B948-47FC-9150-B38A5115E1B0}"/>
              </a:ext>
            </a:extLst>
          </p:cNvPr>
          <p:cNvSpPr>
            <a:spLocks xmlns:a="http://schemas.openxmlformats.org/drawingml/2006/main" noGrp="1"/>
          </p:cNvSpPr>
          <p:nvPr/>
        </p:nvSpPr>
        <p:spPr>
          <a:xfrm xmlns:a="http://schemas.openxmlformats.org/drawingml/2006/main">
            <a:off x="7172325" y="40005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4292E8"/>
                </a:solidFill>
              </a:defRPr>
            </a:pPr>
            <a:r>
              <a:rPr sz="1350" b="1" i="0">
                <a:solidFill>
                  <a:srgbClr val="4292E8"/>
                </a:solidFill>
              </a:rPr>
              <a:t>3</a:t>
            </a:r>
          </a:p>
        </p:txBody>
      </p:sp>
      <p:sp>
        <p:nvSpPr>
          <p:cNvPr id="17" name="">
            <a:extLst xmlns:a="http://schemas.openxmlformats.org/drawingml/2006/main">
              <a:ext uri="{FF2B5EF4-FFF2-40B4-BE49-F238E27FC236}">
                <a16:creationId xmlns:a16="http://schemas.microsoft.com/office/drawing/2014/main" id="{F5339AA1-A551-43C1-B73F-4066287C83EB}"/>
              </a:ext>
            </a:extLst>
          </p:cNvPr>
          <p:cNvSpPr>
            <a:spLocks xmlns:a="http://schemas.openxmlformats.org/drawingml/2006/main" noGrp="1"/>
          </p:cNvSpPr>
          <p:nvPr/>
        </p:nvSpPr>
        <p:spPr>
          <a:xfrm xmlns:a="http://schemas.openxmlformats.org/drawingml/2006/main">
            <a:off x="7172325" y="4324350"/>
            <a:ext cx="2047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i="0">
                <a:solidFill>
                  <a:srgbClr val="10141E"/>
                </a:solidFill>
              </a:defRPr>
            </a:pPr>
            <a:r>
              <a:rPr sz="1575" b="1" i="0">
                <a:solidFill>
                  <a:srgbClr val="10141E"/>
                </a:solidFill>
              </a:rPr>
              <a:t>Incident Digital Twin</a:t>
            </a:r>
          </a:p>
        </p:txBody>
      </p:sp>
      <p:sp>
        <p:nvSpPr>
          <p:cNvPr id="18" name="">
            <a:extLst xmlns:a="http://schemas.openxmlformats.org/drawingml/2006/main">
              <a:ext uri="{FF2B5EF4-FFF2-40B4-BE49-F238E27FC236}">
                <a16:creationId xmlns:a16="http://schemas.microsoft.com/office/drawing/2014/main" id="{D58742B5-7F4A-489A-86E6-4BB0788EC5FC}"/>
              </a:ext>
            </a:extLst>
          </p:cNvPr>
          <p:cNvSpPr>
            <a:spLocks xmlns:a="http://schemas.openxmlformats.org/drawingml/2006/main" noGrp="1"/>
          </p:cNvSpPr>
          <p:nvPr/>
        </p:nvSpPr>
        <p:spPr>
          <a:xfrm xmlns:a="http://schemas.openxmlformats.org/drawingml/2006/main">
            <a:off x="7172325" y="48577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3E4655"/>
                </a:solidFill>
              </a:defRPr>
            </a:pPr>
            <a:r>
              <a:rPr sz="1200" b="0" i="0">
                <a:solidFill>
                  <a:srgbClr val="3E4655"/>
                </a:solidFill>
              </a:rPr>
              <a:t>Evidence graph, timeline, ownership, confidence</a:t>
            </a:r>
          </a:p>
        </p:txBody>
      </p:sp>
      <p:sp>
        <p:nvSpPr>
          <p:cNvPr id="19" name="">
            <a:extLst xmlns:a="http://schemas.openxmlformats.org/drawingml/2006/main">
              <a:ext uri="{FF2B5EF4-FFF2-40B4-BE49-F238E27FC236}">
                <a16:creationId xmlns:a16="http://schemas.microsoft.com/office/drawing/2014/main" id="{643B38D0-F039-47E0-98FA-85BD4674CBA7}"/>
              </a:ext>
            </a:extLst>
          </p:cNvPr>
          <p:cNvSpPr>
            <a:spLocks xmlns:a="http://schemas.openxmlformats.org/drawingml/2006/main" noGrp="1"/>
          </p:cNvSpPr>
          <p:nvPr/>
        </p:nvSpPr>
        <p:spPr>
          <a:xfrm xmlns:a="http://schemas.openxmlformats.org/drawingml/2006/main">
            <a:off x="9420225" y="4381500"/>
            <a:ext cx="28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i="0">
                <a:solidFill>
                  <a:srgbClr val="4292E8"/>
                </a:solidFill>
              </a:defRPr>
            </a:pPr>
            <a:r>
              <a:rPr sz="2400" b="1" i="0">
                <a:solidFill>
                  <a:srgbClr val="4292E8"/>
                </a:solidFill>
              </a:rPr>
              <a:t>→</a:t>
            </a:r>
          </a:p>
        </p:txBody>
      </p:sp>
      <p:sp>
        <p:nvSpPr>
          <p:cNvPr id="20" name="">
            <a:extLst xmlns:a="http://schemas.openxmlformats.org/drawingml/2006/main">
              <a:ext uri="{FF2B5EF4-FFF2-40B4-BE49-F238E27FC236}">
                <a16:creationId xmlns:a16="http://schemas.microsoft.com/office/drawing/2014/main" id="{192EC8CD-4D07-46D7-BE38-D5D85E31E0E3}"/>
              </a:ext>
            </a:extLst>
          </p:cNvPr>
          <p:cNvSpPr>
            <a:spLocks xmlns:a="http://schemas.openxmlformats.org/drawingml/2006/main" noGrp="1"/>
          </p:cNvSpPr>
          <p:nvPr/>
        </p:nvSpPr>
        <p:spPr>
          <a:xfrm xmlns:a="http://schemas.openxmlformats.org/drawingml/2006/main">
            <a:off x="9810750" y="3857625"/>
            <a:ext cx="2381250" cy="1524000"/>
          </a:xfrm>
          <a:prstGeom xmlns:a="http://schemas.openxmlformats.org/drawingml/2006/main" prst="roundRect">
            <a:avLst>
              <a:gd name="adj" fmla="val 7500"/>
            </a:avLst>
          </a:prstGeom>
          <a:solidFill xmlns:a="http://schemas.openxmlformats.org/drawingml/2006/main">
            <a:srgbClr val="F4FAFF"/>
          </a:solidFill>
          <a:ln xmlns:a="http://schemas.openxmlformats.org/drawingml/2006/main" w="19050">
            <a:solidFill>
              <a:srgbClr val="92C8F5"/>
            </a:solidFill>
            <a:prstDash val="solid"/>
          </a:ln>
        </p:spPr>
      </p:sp>
      <p:sp>
        <p:nvSpPr>
          <p:cNvPr id="21" name="">
            <a:extLst xmlns:a="http://schemas.openxmlformats.org/drawingml/2006/main">
              <a:ext uri="{FF2B5EF4-FFF2-40B4-BE49-F238E27FC236}">
                <a16:creationId xmlns:a16="http://schemas.microsoft.com/office/drawing/2014/main" id="{554BDE95-DB93-43C4-BACD-339D2467B5DF}"/>
              </a:ext>
            </a:extLst>
          </p:cNvPr>
          <p:cNvSpPr>
            <a:spLocks xmlns:a="http://schemas.openxmlformats.org/drawingml/2006/main" noGrp="1"/>
          </p:cNvSpPr>
          <p:nvPr/>
        </p:nvSpPr>
        <p:spPr>
          <a:xfrm xmlns:a="http://schemas.openxmlformats.org/drawingml/2006/main">
            <a:off x="9982200" y="4000500"/>
            <a:ext cx="33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4292E8"/>
                </a:solidFill>
              </a:defRPr>
            </a:pPr>
            <a:r>
              <a:rPr sz="1350" b="1" i="0">
                <a:solidFill>
                  <a:srgbClr val="4292E8"/>
                </a:solidFill>
              </a:rPr>
              <a:t>4</a:t>
            </a:r>
          </a:p>
        </p:txBody>
      </p:sp>
      <p:sp>
        <p:nvSpPr>
          <p:cNvPr id="22" name="">
            <a:extLst xmlns:a="http://schemas.openxmlformats.org/drawingml/2006/main">
              <a:ext uri="{FF2B5EF4-FFF2-40B4-BE49-F238E27FC236}">
                <a16:creationId xmlns:a16="http://schemas.microsoft.com/office/drawing/2014/main" id="{C097147A-4409-47E3-AAD3-A680EDEAE7C1}"/>
              </a:ext>
            </a:extLst>
          </p:cNvPr>
          <p:cNvSpPr>
            <a:spLocks xmlns:a="http://schemas.openxmlformats.org/drawingml/2006/main" noGrp="1"/>
          </p:cNvSpPr>
          <p:nvPr/>
        </p:nvSpPr>
        <p:spPr>
          <a:xfrm xmlns:a="http://schemas.openxmlformats.org/drawingml/2006/main">
            <a:off x="9982200" y="4324350"/>
            <a:ext cx="2047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i="0">
                <a:solidFill>
                  <a:srgbClr val="10141E"/>
                </a:solidFill>
              </a:defRPr>
            </a:pPr>
            <a:r>
              <a:rPr sz="1575" b="1" i="0">
                <a:solidFill>
                  <a:srgbClr val="10141E"/>
                </a:solidFill>
              </a:rPr>
              <a:t>Human-controlled actions</a:t>
            </a:r>
          </a:p>
        </p:txBody>
      </p:sp>
      <p:sp>
        <p:nvSpPr>
          <p:cNvPr id="23" name="">
            <a:extLst xmlns:a="http://schemas.openxmlformats.org/drawingml/2006/main">
              <a:ext uri="{FF2B5EF4-FFF2-40B4-BE49-F238E27FC236}">
                <a16:creationId xmlns:a16="http://schemas.microsoft.com/office/drawing/2014/main" id="{EF1FD4FC-55AF-4335-97DD-AEDFAE6B6372}"/>
              </a:ext>
            </a:extLst>
          </p:cNvPr>
          <p:cNvSpPr>
            <a:spLocks xmlns:a="http://schemas.openxmlformats.org/drawingml/2006/main" noGrp="1"/>
          </p:cNvSpPr>
          <p:nvPr/>
        </p:nvSpPr>
        <p:spPr>
          <a:xfrm xmlns:a="http://schemas.openxmlformats.org/drawingml/2006/main">
            <a:off x="9982200" y="48577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3E4655"/>
                </a:solidFill>
              </a:defRPr>
            </a:pPr>
            <a:r>
              <a:rPr sz="1200" b="0" i="0">
                <a:solidFill>
                  <a:srgbClr val="3E4655"/>
                </a:solidFill>
              </a:rPr>
              <a:t>Approve critical changes; stream updates</a:t>
            </a:r>
          </a:p>
        </p:txBody>
      </p:sp>
      <p:sp>
        <p:nvSpPr>
          <p:cNvPr id="24" name="">
            <a:extLst xmlns:a="http://schemas.openxmlformats.org/drawingml/2006/main">
              <a:ext uri="{FF2B5EF4-FFF2-40B4-BE49-F238E27FC236}">
                <a16:creationId xmlns:a16="http://schemas.microsoft.com/office/drawing/2014/main" id="{1206C295-C748-4002-BC3F-8084C7B744B4}"/>
              </a:ext>
            </a:extLst>
          </p:cNvPr>
          <p:cNvSpPr>
            <a:spLocks xmlns:a="http://schemas.openxmlformats.org/drawingml/2006/main" noGrp="1"/>
          </p:cNvSpPr>
          <p:nvPr/>
        </p:nvSpPr>
        <p:spPr>
          <a:xfrm xmlns:a="http://schemas.openxmlformats.org/drawingml/2006/main">
            <a:off x="1428750" y="58102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3E4655"/>
                </a:solidFill>
              </a:defRPr>
            </a:pPr>
            <a:r>
              <a:rPr sz="1350" b="0" i="0">
                <a:solidFill>
                  <a:srgbClr val="3E4655"/>
                </a:solidFill>
              </a:rPr>
              <a:t>Planned use of Agora: the core low-latency voice room, conversational interface, and spoken incident briefings. WebSockets and RBAC complete the production-ready layer.</a:t>
            </a:r>
          </a:p>
        </p:txBody>
      </p:sp>
    </p:spTree>
    <p:extLst>
      <p:ext uri="{BB962C8B-B14F-4D97-AF65-F5344CB8AC3E}">
        <p14:creationId xmlns:p14="http://schemas.microsoft.com/office/powerpoint/2010/main" val="115517782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13acf4a657e4ae6"/>
          <a:srcRect xmlns:a="http://schemas.openxmlformats.org/drawingml/2006/main" l="0" t="15" r="0" b="15"/>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7AA1B32-EDB9-41D2-8405-13F2D2C949E6}"/>
              </a:ext>
            </a:extLst>
          </p:cNvPr>
          <p:cNvSpPr>
            <a:spLocks xmlns:a="http://schemas.openxmlformats.org/drawingml/2006/main" noGrp="1"/>
          </p:cNvSpPr>
          <p:nvPr/>
        </p:nvSpPr>
        <p:spPr>
          <a:xfrm xmlns:a="http://schemas.openxmlformats.org/drawingml/2006/main">
            <a:off x="952500" y="2238375"/>
            <a:ext cx="12668250" cy="4953000"/>
          </a:xfrm>
          <a:prstGeom xmlns:a="http://schemas.openxmlformats.org/drawingml/2006/main" prst="roundRect">
            <a:avLst>
              <a:gd name="adj" fmla="val 2308"/>
            </a:avLst>
          </a:prstGeom>
          <a:solidFill xmlns:a="http://schemas.openxmlformats.org/drawingml/2006/main">
            <a:srgbClr val="FFFFFF"/>
          </a:solidFill>
          <a:ln xmlns:a="http://schemas.openxmlformats.org/drawingml/2006/main" w="9525">
            <a:solidFill>
              <a:srgbClr val="DCEBFB"/>
            </a:solidFill>
            <a:prstDash val="solid"/>
          </a:ln>
        </p:spPr>
      </p:sp>
      <p:sp>
        <p:nvSpPr>
          <p:cNvPr id="3" name="">
            <a:extLst xmlns:a="http://schemas.openxmlformats.org/drawingml/2006/main">
              <a:ext uri="{FF2B5EF4-FFF2-40B4-BE49-F238E27FC236}">
                <a16:creationId xmlns:a16="http://schemas.microsoft.com/office/drawing/2014/main" id="{2E9830CE-D1D3-45AA-A5F3-BAACE33D615A}"/>
              </a:ext>
            </a:extLst>
          </p:cNvPr>
          <p:cNvSpPr>
            <a:spLocks xmlns:a="http://schemas.openxmlformats.org/drawingml/2006/main" noGrp="1"/>
          </p:cNvSpPr>
          <p:nvPr/>
        </p:nvSpPr>
        <p:spPr>
          <a:xfrm xmlns:a="http://schemas.openxmlformats.org/drawingml/2006/main">
            <a:off x="1428750" y="2190750"/>
            <a:ext cx="904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525" b="1" i="0">
                <a:solidFill>
                  <a:srgbClr val="4292E8"/>
                </a:solidFill>
              </a:defRPr>
            </a:pPr>
            <a:r>
              <a:rPr sz="3525" b="1" i="0">
                <a:solidFill>
                  <a:srgbClr val="4292E8"/>
                </a:solidFill>
              </a:rPr>
              <a:t>Specialist agents keep the room coordinated.</a:t>
            </a:r>
          </a:p>
        </p:txBody>
      </p:sp>
      <p:sp>
        <p:nvSpPr>
          <p:cNvPr id="4" name="">
            <a:extLst xmlns:a="http://schemas.openxmlformats.org/drawingml/2006/main">
              <a:ext uri="{FF2B5EF4-FFF2-40B4-BE49-F238E27FC236}">
                <a16:creationId xmlns:a16="http://schemas.microsoft.com/office/drawing/2014/main" id="{48A9E871-0408-40D2-A037-E9CF3A7A944C}"/>
              </a:ext>
            </a:extLst>
          </p:cNvPr>
          <p:cNvSpPr>
            <a:spLocks xmlns:a="http://schemas.openxmlformats.org/drawingml/2006/main" noGrp="1"/>
          </p:cNvSpPr>
          <p:nvPr/>
        </p:nvSpPr>
        <p:spPr>
          <a:xfrm xmlns:a="http://schemas.openxmlformats.org/drawingml/2006/main">
            <a:off x="1333500" y="3571875"/>
            <a:ext cx="2428875" cy="1000125"/>
          </a:xfrm>
          <a:prstGeom xmlns:a="http://schemas.openxmlformats.org/drawingml/2006/main" prst="roundRect">
            <a:avLst>
              <a:gd name="adj" fmla="val 11429"/>
            </a:avLst>
          </a:prstGeom>
          <a:solidFill xmlns:a="http://schemas.openxmlformats.org/drawingml/2006/main">
            <a:srgbClr val="F7FBFF"/>
          </a:solidFill>
          <a:ln xmlns:a="http://schemas.openxmlformats.org/drawingml/2006/main" w="9525">
            <a:solidFill>
              <a:srgbClr val="9DCEF5"/>
            </a:solidFill>
            <a:prstDash val="solid"/>
          </a:ln>
        </p:spPr>
      </p:sp>
      <p:sp>
        <p:nvSpPr>
          <p:cNvPr id="5" name="">
            <a:extLst xmlns:a="http://schemas.openxmlformats.org/drawingml/2006/main">
              <a:ext uri="{FF2B5EF4-FFF2-40B4-BE49-F238E27FC236}">
                <a16:creationId xmlns:a16="http://schemas.microsoft.com/office/drawing/2014/main" id="{29A6ACAB-4B6C-4B15-8A50-6FF19564AFB6}"/>
              </a:ext>
            </a:extLst>
          </p:cNvPr>
          <p:cNvSpPr>
            <a:spLocks xmlns:a="http://schemas.openxmlformats.org/drawingml/2006/main" noGrp="1"/>
          </p:cNvSpPr>
          <p:nvPr/>
        </p:nvSpPr>
        <p:spPr>
          <a:xfrm xmlns:a="http://schemas.openxmlformats.org/drawingml/2006/main">
            <a:off x="1504950" y="376237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10141E"/>
                </a:solidFill>
              </a:defRPr>
            </a:pPr>
            <a:r>
              <a:rPr sz="1725" b="1" i="0">
                <a:solidFill>
                  <a:srgbClr val="10141E"/>
                </a:solidFill>
              </a:rPr>
              <a:t>Listener</a:t>
            </a:r>
          </a:p>
        </p:txBody>
      </p:sp>
      <p:sp>
        <p:nvSpPr>
          <p:cNvPr id="6" name="">
            <a:extLst xmlns:a="http://schemas.openxmlformats.org/drawingml/2006/main">
              <a:ext uri="{FF2B5EF4-FFF2-40B4-BE49-F238E27FC236}">
                <a16:creationId xmlns:a16="http://schemas.microsoft.com/office/drawing/2014/main" id="{0BA35116-F2F3-4BC3-BAB1-EA54C6F41BDF}"/>
              </a:ext>
            </a:extLst>
          </p:cNvPr>
          <p:cNvSpPr>
            <a:spLocks xmlns:a="http://schemas.openxmlformats.org/drawingml/2006/main" noGrp="1"/>
          </p:cNvSpPr>
          <p:nvPr/>
        </p:nvSpPr>
        <p:spPr>
          <a:xfrm xmlns:a="http://schemas.openxmlformats.org/drawingml/2006/main">
            <a:off x="1504950" y="4124325"/>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3E4655"/>
                </a:solidFill>
              </a:defRPr>
            </a:pPr>
            <a:r>
              <a:rPr sz="1200" b="0" i="0">
                <a:solidFill>
                  <a:srgbClr val="3E4655"/>
                </a:solidFill>
              </a:rPr>
              <a:t>speaker + role</a:t>
            </a:r>
          </a:p>
        </p:txBody>
      </p:sp>
      <p:sp>
        <p:nvSpPr>
          <p:cNvPr id="7" name="">
            <a:extLst xmlns:a="http://schemas.openxmlformats.org/drawingml/2006/main">
              <a:ext uri="{FF2B5EF4-FFF2-40B4-BE49-F238E27FC236}">
                <a16:creationId xmlns:a16="http://schemas.microsoft.com/office/drawing/2014/main" id="{7D12FBEB-258C-46E2-BDAB-9DCC6C1DE948}"/>
              </a:ext>
            </a:extLst>
          </p:cNvPr>
          <p:cNvSpPr>
            <a:spLocks xmlns:a="http://schemas.openxmlformats.org/drawingml/2006/main" noGrp="1"/>
          </p:cNvSpPr>
          <p:nvPr/>
        </p:nvSpPr>
        <p:spPr>
          <a:xfrm xmlns:a="http://schemas.openxmlformats.org/drawingml/2006/main">
            <a:off x="4238625" y="3571875"/>
            <a:ext cx="2428875" cy="1000125"/>
          </a:xfrm>
          <a:prstGeom xmlns:a="http://schemas.openxmlformats.org/drawingml/2006/main" prst="roundRect">
            <a:avLst>
              <a:gd name="adj" fmla="val 11429"/>
            </a:avLst>
          </a:prstGeom>
          <a:solidFill xmlns:a="http://schemas.openxmlformats.org/drawingml/2006/main">
            <a:srgbClr val="F7FBFF"/>
          </a:solidFill>
          <a:ln xmlns:a="http://schemas.openxmlformats.org/drawingml/2006/main" w="9525">
            <a:solidFill>
              <a:srgbClr val="9DCEF5"/>
            </a:solidFill>
            <a:prstDash val="solid"/>
          </a:ln>
        </p:spPr>
      </p:sp>
      <p:sp>
        <p:nvSpPr>
          <p:cNvPr id="8" name="">
            <a:extLst xmlns:a="http://schemas.openxmlformats.org/drawingml/2006/main">
              <a:ext uri="{FF2B5EF4-FFF2-40B4-BE49-F238E27FC236}">
                <a16:creationId xmlns:a16="http://schemas.microsoft.com/office/drawing/2014/main" id="{130D202A-761D-4B55-92B3-2D2D1B4CB1D3}"/>
              </a:ext>
            </a:extLst>
          </p:cNvPr>
          <p:cNvSpPr>
            <a:spLocks xmlns:a="http://schemas.openxmlformats.org/drawingml/2006/main" noGrp="1"/>
          </p:cNvSpPr>
          <p:nvPr/>
        </p:nvSpPr>
        <p:spPr>
          <a:xfrm xmlns:a="http://schemas.openxmlformats.org/drawingml/2006/main">
            <a:off x="4410075" y="376237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10141E"/>
                </a:solidFill>
              </a:defRPr>
            </a:pPr>
            <a:r>
              <a:rPr sz="1725" b="1" i="0">
                <a:solidFill>
                  <a:srgbClr val="10141E"/>
                </a:solidFill>
              </a:rPr>
              <a:t>Evidence</a:t>
            </a:r>
          </a:p>
        </p:txBody>
      </p:sp>
      <p:sp>
        <p:nvSpPr>
          <p:cNvPr id="9" name="">
            <a:extLst xmlns:a="http://schemas.openxmlformats.org/drawingml/2006/main">
              <a:ext uri="{FF2B5EF4-FFF2-40B4-BE49-F238E27FC236}">
                <a16:creationId xmlns:a16="http://schemas.microsoft.com/office/drawing/2014/main" id="{D2D139D7-6A00-443C-A0D5-A5CD9823DED8}"/>
              </a:ext>
            </a:extLst>
          </p:cNvPr>
          <p:cNvSpPr>
            <a:spLocks xmlns:a="http://schemas.openxmlformats.org/drawingml/2006/main" noGrp="1"/>
          </p:cNvSpPr>
          <p:nvPr/>
        </p:nvSpPr>
        <p:spPr>
          <a:xfrm xmlns:a="http://schemas.openxmlformats.org/drawingml/2006/main">
            <a:off x="4410075" y="4124325"/>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3E4655"/>
                </a:solidFill>
              </a:defRPr>
            </a:pPr>
            <a:r>
              <a:rPr sz="1200" b="0" i="0">
                <a:solidFill>
                  <a:srgbClr val="3E4655"/>
                </a:solidFill>
              </a:rPr>
              <a:t>facts + provenance</a:t>
            </a:r>
          </a:p>
        </p:txBody>
      </p:sp>
      <p:sp>
        <p:nvSpPr>
          <p:cNvPr id="10" name="">
            <a:extLst xmlns:a="http://schemas.openxmlformats.org/drawingml/2006/main">
              <a:ext uri="{FF2B5EF4-FFF2-40B4-BE49-F238E27FC236}">
                <a16:creationId xmlns:a16="http://schemas.microsoft.com/office/drawing/2014/main" id="{677FEEC5-77E9-4A29-82CF-5618BD8571CC}"/>
              </a:ext>
            </a:extLst>
          </p:cNvPr>
          <p:cNvSpPr>
            <a:spLocks xmlns:a="http://schemas.openxmlformats.org/drawingml/2006/main" noGrp="1"/>
          </p:cNvSpPr>
          <p:nvPr/>
        </p:nvSpPr>
        <p:spPr>
          <a:xfrm xmlns:a="http://schemas.openxmlformats.org/drawingml/2006/main">
            <a:off x="7143750" y="3571875"/>
            <a:ext cx="2428875" cy="1000125"/>
          </a:xfrm>
          <a:prstGeom xmlns:a="http://schemas.openxmlformats.org/drawingml/2006/main" prst="roundRect">
            <a:avLst>
              <a:gd name="adj" fmla="val 11429"/>
            </a:avLst>
          </a:prstGeom>
          <a:solidFill xmlns:a="http://schemas.openxmlformats.org/drawingml/2006/main">
            <a:srgbClr val="F7FBFF"/>
          </a:solidFill>
          <a:ln xmlns:a="http://schemas.openxmlformats.org/drawingml/2006/main" w="9525">
            <a:solidFill>
              <a:srgbClr val="9DCEF5"/>
            </a:solidFill>
            <a:prstDash val="solid"/>
          </a:ln>
        </p:spPr>
      </p:sp>
      <p:sp>
        <p:nvSpPr>
          <p:cNvPr id="11" name="">
            <a:extLst xmlns:a="http://schemas.openxmlformats.org/drawingml/2006/main">
              <a:ext uri="{FF2B5EF4-FFF2-40B4-BE49-F238E27FC236}">
                <a16:creationId xmlns:a16="http://schemas.microsoft.com/office/drawing/2014/main" id="{F3359B35-A5C3-4E47-8A5A-E134DFB0DAA8}"/>
              </a:ext>
            </a:extLst>
          </p:cNvPr>
          <p:cNvSpPr>
            <a:spLocks xmlns:a="http://schemas.openxmlformats.org/drawingml/2006/main" noGrp="1"/>
          </p:cNvSpPr>
          <p:nvPr/>
        </p:nvSpPr>
        <p:spPr>
          <a:xfrm xmlns:a="http://schemas.openxmlformats.org/drawingml/2006/main">
            <a:off x="7315200" y="376237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10141E"/>
                </a:solidFill>
              </a:defRPr>
            </a:pPr>
            <a:r>
              <a:rPr sz="1725" b="1" i="0">
                <a:solidFill>
                  <a:srgbClr val="10141E"/>
                </a:solidFill>
              </a:rPr>
              <a:t>Conflict</a:t>
            </a:r>
          </a:p>
        </p:txBody>
      </p:sp>
      <p:sp>
        <p:nvSpPr>
          <p:cNvPr id="12" name="">
            <a:extLst xmlns:a="http://schemas.openxmlformats.org/drawingml/2006/main">
              <a:ext uri="{FF2B5EF4-FFF2-40B4-BE49-F238E27FC236}">
                <a16:creationId xmlns:a16="http://schemas.microsoft.com/office/drawing/2014/main" id="{0B4829CC-8FDA-4A49-AFEA-57CAE9E7DF76}"/>
              </a:ext>
            </a:extLst>
          </p:cNvPr>
          <p:cNvSpPr>
            <a:spLocks xmlns:a="http://schemas.openxmlformats.org/drawingml/2006/main" noGrp="1"/>
          </p:cNvSpPr>
          <p:nvPr/>
        </p:nvSpPr>
        <p:spPr>
          <a:xfrm xmlns:a="http://schemas.openxmlformats.org/drawingml/2006/main">
            <a:off x="7315200" y="4124325"/>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3E4655"/>
                </a:solidFill>
              </a:defRPr>
            </a:pPr>
            <a:r>
              <a:rPr sz="1200" b="0" i="0">
                <a:solidFill>
                  <a:srgbClr val="3E4655"/>
                </a:solidFill>
              </a:rPr>
              <a:t>gaps + contradictions</a:t>
            </a:r>
          </a:p>
        </p:txBody>
      </p:sp>
      <p:sp>
        <p:nvSpPr>
          <p:cNvPr id="13" name="">
            <a:extLst xmlns:a="http://schemas.openxmlformats.org/drawingml/2006/main">
              <a:ext uri="{FF2B5EF4-FFF2-40B4-BE49-F238E27FC236}">
                <a16:creationId xmlns:a16="http://schemas.microsoft.com/office/drawing/2014/main" id="{C8708C95-C5CD-4BF4-9142-871A097A8E1F}"/>
              </a:ext>
            </a:extLst>
          </p:cNvPr>
          <p:cNvSpPr>
            <a:spLocks xmlns:a="http://schemas.openxmlformats.org/drawingml/2006/main" noGrp="1"/>
          </p:cNvSpPr>
          <p:nvPr/>
        </p:nvSpPr>
        <p:spPr>
          <a:xfrm xmlns:a="http://schemas.openxmlformats.org/drawingml/2006/main">
            <a:off x="10048875" y="3571875"/>
            <a:ext cx="2428875" cy="1000125"/>
          </a:xfrm>
          <a:prstGeom xmlns:a="http://schemas.openxmlformats.org/drawingml/2006/main" prst="roundRect">
            <a:avLst>
              <a:gd name="adj" fmla="val 11429"/>
            </a:avLst>
          </a:prstGeom>
          <a:solidFill xmlns:a="http://schemas.openxmlformats.org/drawingml/2006/main">
            <a:srgbClr val="F7FBFF"/>
          </a:solidFill>
          <a:ln xmlns:a="http://schemas.openxmlformats.org/drawingml/2006/main" w="9525">
            <a:solidFill>
              <a:srgbClr val="9DCEF5"/>
            </a:solidFill>
            <a:prstDash val="solid"/>
          </a:ln>
        </p:spPr>
      </p:sp>
      <p:sp>
        <p:nvSpPr>
          <p:cNvPr id="14" name="">
            <a:extLst xmlns:a="http://schemas.openxmlformats.org/drawingml/2006/main">
              <a:ext uri="{FF2B5EF4-FFF2-40B4-BE49-F238E27FC236}">
                <a16:creationId xmlns:a16="http://schemas.microsoft.com/office/drawing/2014/main" id="{9E87207F-DC65-4C8B-B577-944487C79F17}"/>
              </a:ext>
            </a:extLst>
          </p:cNvPr>
          <p:cNvSpPr>
            <a:spLocks xmlns:a="http://schemas.openxmlformats.org/drawingml/2006/main" noGrp="1"/>
          </p:cNvSpPr>
          <p:nvPr/>
        </p:nvSpPr>
        <p:spPr>
          <a:xfrm xmlns:a="http://schemas.openxmlformats.org/drawingml/2006/main">
            <a:off x="10220325" y="376237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10141E"/>
                </a:solidFill>
              </a:defRPr>
            </a:pPr>
            <a:r>
              <a:rPr sz="1725" b="1" i="0">
                <a:solidFill>
                  <a:srgbClr val="10141E"/>
                </a:solidFill>
              </a:rPr>
              <a:t>Timeline</a:t>
            </a:r>
          </a:p>
        </p:txBody>
      </p:sp>
      <p:sp>
        <p:nvSpPr>
          <p:cNvPr id="15" name="">
            <a:extLst xmlns:a="http://schemas.openxmlformats.org/drawingml/2006/main">
              <a:ext uri="{FF2B5EF4-FFF2-40B4-BE49-F238E27FC236}">
                <a16:creationId xmlns:a16="http://schemas.microsoft.com/office/drawing/2014/main" id="{461CAF08-7BBF-48DA-B273-6AA50982D545}"/>
              </a:ext>
            </a:extLst>
          </p:cNvPr>
          <p:cNvSpPr>
            <a:spLocks xmlns:a="http://schemas.openxmlformats.org/drawingml/2006/main" noGrp="1"/>
          </p:cNvSpPr>
          <p:nvPr/>
        </p:nvSpPr>
        <p:spPr>
          <a:xfrm xmlns:a="http://schemas.openxmlformats.org/drawingml/2006/main">
            <a:off x="10220325" y="4124325"/>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3E4655"/>
                </a:solidFill>
              </a:defRPr>
            </a:pPr>
            <a:r>
              <a:rPr sz="1200" b="0" i="0">
                <a:solidFill>
                  <a:srgbClr val="3E4655"/>
                </a:solidFill>
              </a:rPr>
              <a:t>Digital Twin</a:t>
            </a:r>
          </a:p>
        </p:txBody>
      </p:sp>
      <p:sp>
        <p:nvSpPr>
          <p:cNvPr id="16" name="">
            <a:extLst xmlns:a="http://schemas.openxmlformats.org/drawingml/2006/main">
              <a:ext uri="{FF2B5EF4-FFF2-40B4-BE49-F238E27FC236}">
                <a16:creationId xmlns:a16="http://schemas.microsoft.com/office/drawing/2014/main" id="{3F710FFA-7B58-4EF8-A1AE-6BF81C336FB4}"/>
              </a:ext>
            </a:extLst>
          </p:cNvPr>
          <p:cNvSpPr>
            <a:spLocks xmlns:a="http://schemas.openxmlformats.org/drawingml/2006/main" noGrp="1"/>
          </p:cNvSpPr>
          <p:nvPr/>
        </p:nvSpPr>
        <p:spPr>
          <a:xfrm xmlns:a="http://schemas.openxmlformats.org/drawingml/2006/main">
            <a:off x="1333500" y="5095875"/>
            <a:ext cx="2428875" cy="1000125"/>
          </a:xfrm>
          <a:prstGeom xmlns:a="http://schemas.openxmlformats.org/drawingml/2006/main" prst="roundRect">
            <a:avLst>
              <a:gd name="adj" fmla="val 11429"/>
            </a:avLst>
          </a:prstGeom>
          <a:solidFill xmlns:a="http://schemas.openxmlformats.org/drawingml/2006/main">
            <a:srgbClr val="F7FBFF"/>
          </a:solidFill>
          <a:ln xmlns:a="http://schemas.openxmlformats.org/drawingml/2006/main" w="9525">
            <a:solidFill>
              <a:srgbClr val="9DCEF5"/>
            </a:solidFill>
            <a:prstDash val="solid"/>
          </a:ln>
        </p:spPr>
      </p:sp>
      <p:sp>
        <p:nvSpPr>
          <p:cNvPr id="17" name="">
            <a:extLst xmlns:a="http://schemas.openxmlformats.org/drawingml/2006/main">
              <a:ext uri="{FF2B5EF4-FFF2-40B4-BE49-F238E27FC236}">
                <a16:creationId xmlns:a16="http://schemas.microsoft.com/office/drawing/2014/main" id="{46F7608E-E22E-4091-A7DF-3ED06E78F304}"/>
              </a:ext>
            </a:extLst>
          </p:cNvPr>
          <p:cNvSpPr>
            <a:spLocks xmlns:a="http://schemas.openxmlformats.org/drawingml/2006/main" noGrp="1"/>
          </p:cNvSpPr>
          <p:nvPr/>
        </p:nvSpPr>
        <p:spPr>
          <a:xfrm xmlns:a="http://schemas.openxmlformats.org/drawingml/2006/main">
            <a:off x="1504950" y="528637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10141E"/>
                </a:solidFill>
              </a:defRPr>
            </a:pPr>
            <a:r>
              <a:rPr sz="1725" b="1" i="0">
                <a:solidFill>
                  <a:srgbClr val="10141E"/>
                </a:solidFill>
              </a:rPr>
              <a:t>Action</a:t>
            </a:r>
          </a:p>
        </p:txBody>
      </p:sp>
      <p:sp>
        <p:nvSpPr>
          <p:cNvPr id="18" name="">
            <a:extLst xmlns:a="http://schemas.openxmlformats.org/drawingml/2006/main">
              <a:ext uri="{FF2B5EF4-FFF2-40B4-BE49-F238E27FC236}">
                <a16:creationId xmlns:a16="http://schemas.microsoft.com/office/drawing/2014/main" id="{A98BFFBD-5584-47F6-A2B6-A266FE908F93}"/>
              </a:ext>
            </a:extLst>
          </p:cNvPr>
          <p:cNvSpPr>
            <a:spLocks xmlns:a="http://schemas.openxmlformats.org/drawingml/2006/main" noGrp="1"/>
          </p:cNvSpPr>
          <p:nvPr/>
        </p:nvSpPr>
        <p:spPr>
          <a:xfrm xmlns:a="http://schemas.openxmlformats.org/drawingml/2006/main">
            <a:off x="1504950" y="5648325"/>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3E4655"/>
                </a:solidFill>
              </a:defRPr>
            </a:pPr>
            <a:r>
              <a:rPr sz="1200" b="0" i="0">
                <a:solidFill>
                  <a:srgbClr val="3E4655"/>
                </a:solidFill>
              </a:rPr>
              <a:t>owners + escalation</a:t>
            </a:r>
          </a:p>
        </p:txBody>
      </p:sp>
      <p:sp>
        <p:nvSpPr>
          <p:cNvPr id="19" name="">
            <a:extLst xmlns:a="http://schemas.openxmlformats.org/drawingml/2006/main">
              <a:ext uri="{FF2B5EF4-FFF2-40B4-BE49-F238E27FC236}">
                <a16:creationId xmlns:a16="http://schemas.microsoft.com/office/drawing/2014/main" id="{9C8782FB-F231-4CC8-B381-DCF026DC5510}"/>
              </a:ext>
            </a:extLst>
          </p:cNvPr>
          <p:cNvSpPr>
            <a:spLocks xmlns:a="http://schemas.openxmlformats.org/drawingml/2006/main" noGrp="1"/>
          </p:cNvSpPr>
          <p:nvPr/>
        </p:nvSpPr>
        <p:spPr>
          <a:xfrm xmlns:a="http://schemas.openxmlformats.org/drawingml/2006/main">
            <a:off x="4238625" y="5095875"/>
            <a:ext cx="2428875" cy="1000125"/>
          </a:xfrm>
          <a:prstGeom xmlns:a="http://schemas.openxmlformats.org/drawingml/2006/main" prst="roundRect">
            <a:avLst>
              <a:gd name="adj" fmla="val 11429"/>
            </a:avLst>
          </a:prstGeom>
          <a:solidFill xmlns:a="http://schemas.openxmlformats.org/drawingml/2006/main">
            <a:srgbClr val="F7FBFF"/>
          </a:solidFill>
          <a:ln xmlns:a="http://schemas.openxmlformats.org/drawingml/2006/main" w="9525">
            <a:solidFill>
              <a:srgbClr val="9DCEF5"/>
            </a:solidFill>
            <a:prstDash val="solid"/>
          </a:ln>
        </p:spPr>
      </p:sp>
      <p:sp>
        <p:nvSpPr>
          <p:cNvPr id="20" name="">
            <a:extLst xmlns:a="http://schemas.openxmlformats.org/drawingml/2006/main">
              <a:ext uri="{FF2B5EF4-FFF2-40B4-BE49-F238E27FC236}">
                <a16:creationId xmlns:a16="http://schemas.microsoft.com/office/drawing/2014/main" id="{25DFE302-5738-46D7-8F1D-19AA9F0DAAAE}"/>
              </a:ext>
            </a:extLst>
          </p:cNvPr>
          <p:cNvSpPr>
            <a:spLocks xmlns:a="http://schemas.openxmlformats.org/drawingml/2006/main" noGrp="1"/>
          </p:cNvSpPr>
          <p:nvPr/>
        </p:nvSpPr>
        <p:spPr>
          <a:xfrm xmlns:a="http://schemas.openxmlformats.org/drawingml/2006/main">
            <a:off x="4410075" y="528637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10141E"/>
                </a:solidFill>
              </a:defRPr>
            </a:pPr>
            <a:r>
              <a:rPr sz="1725" b="1" i="0">
                <a:solidFill>
                  <a:srgbClr val="10141E"/>
                </a:solidFill>
              </a:rPr>
              <a:t>Investigation</a:t>
            </a:r>
          </a:p>
        </p:txBody>
      </p:sp>
      <p:sp>
        <p:nvSpPr>
          <p:cNvPr id="21" name="">
            <a:extLst xmlns:a="http://schemas.openxmlformats.org/drawingml/2006/main">
              <a:ext uri="{FF2B5EF4-FFF2-40B4-BE49-F238E27FC236}">
                <a16:creationId xmlns:a16="http://schemas.microsoft.com/office/drawing/2014/main" id="{7A39DF20-0797-4FA0-966D-DD95611A26AE}"/>
              </a:ext>
            </a:extLst>
          </p:cNvPr>
          <p:cNvSpPr>
            <a:spLocks xmlns:a="http://schemas.openxmlformats.org/drawingml/2006/main" noGrp="1"/>
          </p:cNvSpPr>
          <p:nvPr/>
        </p:nvSpPr>
        <p:spPr>
          <a:xfrm xmlns:a="http://schemas.openxmlformats.org/drawingml/2006/main">
            <a:off x="4410075" y="5648325"/>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3E4655"/>
                </a:solidFill>
              </a:defRPr>
            </a:pPr>
            <a:r>
              <a:rPr sz="1200" b="0" i="0">
                <a:solidFill>
                  <a:srgbClr val="3E4655"/>
                </a:solidFill>
              </a:rPr>
              <a:t>tools + RAG</a:t>
            </a:r>
          </a:p>
        </p:txBody>
      </p:sp>
      <p:sp>
        <p:nvSpPr>
          <p:cNvPr id="22" name="">
            <a:extLst xmlns:a="http://schemas.openxmlformats.org/drawingml/2006/main">
              <a:ext uri="{FF2B5EF4-FFF2-40B4-BE49-F238E27FC236}">
                <a16:creationId xmlns:a16="http://schemas.microsoft.com/office/drawing/2014/main" id="{69EF6ED4-F145-4FD8-99DE-7E629568E1FD}"/>
              </a:ext>
            </a:extLst>
          </p:cNvPr>
          <p:cNvSpPr>
            <a:spLocks xmlns:a="http://schemas.openxmlformats.org/drawingml/2006/main" noGrp="1"/>
          </p:cNvSpPr>
          <p:nvPr/>
        </p:nvSpPr>
        <p:spPr>
          <a:xfrm xmlns:a="http://schemas.openxmlformats.org/drawingml/2006/main">
            <a:off x="7143750" y="5095875"/>
            <a:ext cx="2428875" cy="1000125"/>
          </a:xfrm>
          <a:prstGeom xmlns:a="http://schemas.openxmlformats.org/drawingml/2006/main" prst="roundRect">
            <a:avLst>
              <a:gd name="adj" fmla="val 11429"/>
            </a:avLst>
          </a:prstGeom>
          <a:solidFill xmlns:a="http://schemas.openxmlformats.org/drawingml/2006/main">
            <a:srgbClr val="4292E8"/>
          </a:solidFill>
          <a:ln xmlns:a="http://schemas.openxmlformats.org/drawingml/2006/main" w="9525">
            <a:solidFill>
              <a:srgbClr val="4292E8"/>
            </a:solidFill>
            <a:prstDash val="solid"/>
          </a:ln>
        </p:spPr>
      </p:sp>
      <p:sp>
        <p:nvSpPr>
          <p:cNvPr id="23" name="">
            <a:extLst xmlns:a="http://schemas.openxmlformats.org/drawingml/2006/main">
              <a:ext uri="{FF2B5EF4-FFF2-40B4-BE49-F238E27FC236}">
                <a16:creationId xmlns:a16="http://schemas.microsoft.com/office/drawing/2014/main" id="{74DDA987-54DB-4054-9D7A-1B3C11BBA81F}"/>
              </a:ext>
            </a:extLst>
          </p:cNvPr>
          <p:cNvSpPr>
            <a:spLocks xmlns:a="http://schemas.openxmlformats.org/drawingml/2006/main" noGrp="1"/>
          </p:cNvSpPr>
          <p:nvPr/>
        </p:nvSpPr>
        <p:spPr>
          <a:xfrm xmlns:a="http://schemas.openxmlformats.org/drawingml/2006/main">
            <a:off x="7315200" y="528637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FFFFFF"/>
                </a:solidFill>
              </a:defRPr>
            </a:pPr>
            <a:r>
              <a:rPr sz="1725" b="1" i="0">
                <a:solidFill>
                  <a:srgbClr val="FFFFFF"/>
                </a:solidFill>
              </a:rPr>
              <a:t>Commander</a:t>
            </a:r>
          </a:p>
        </p:txBody>
      </p:sp>
      <p:sp>
        <p:nvSpPr>
          <p:cNvPr id="24" name="">
            <a:extLst xmlns:a="http://schemas.openxmlformats.org/drawingml/2006/main">
              <a:ext uri="{FF2B5EF4-FFF2-40B4-BE49-F238E27FC236}">
                <a16:creationId xmlns:a16="http://schemas.microsoft.com/office/drawing/2014/main" id="{8EE895BF-6623-40EB-A68E-49D62FE0F5FF}"/>
              </a:ext>
            </a:extLst>
          </p:cNvPr>
          <p:cNvSpPr>
            <a:spLocks xmlns:a="http://schemas.openxmlformats.org/drawingml/2006/main" noGrp="1"/>
          </p:cNvSpPr>
          <p:nvPr/>
        </p:nvSpPr>
        <p:spPr>
          <a:xfrm xmlns:a="http://schemas.openxmlformats.org/drawingml/2006/main">
            <a:off x="7315200" y="5648325"/>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FFFFFF"/>
                </a:solidFill>
              </a:defRPr>
            </a:pPr>
            <a:r>
              <a:rPr sz="1200" b="0" i="0">
                <a:solidFill>
                  <a:srgbClr val="FFFFFF"/>
                </a:solidFill>
              </a:rPr>
              <a:t>spoken briefings</a:t>
            </a:r>
          </a:p>
        </p:txBody>
      </p:sp>
      <p:sp>
        <p:nvSpPr>
          <p:cNvPr id="25" name="">
            <a:extLst xmlns:a="http://schemas.openxmlformats.org/drawingml/2006/main">
              <a:ext uri="{FF2B5EF4-FFF2-40B4-BE49-F238E27FC236}">
                <a16:creationId xmlns:a16="http://schemas.microsoft.com/office/drawing/2014/main" id="{7E355EB2-E8B0-489C-94E3-12BC2AD38A23}"/>
              </a:ext>
            </a:extLst>
          </p:cNvPr>
          <p:cNvSpPr>
            <a:spLocks xmlns:a="http://schemas.openxmlformats.org/drawingml/2006/main" noGrp="1"/>
          </p:cNvSpPr>
          <p:nvPr/>
        </p:nvSpPr>
        <p:spPr>
          <a:xfrm xmlns:a="http://schemas.openxmlformats.org/drawingml/2006/main">
            <a:off x="1333500" y="6572250"/>
            <a:ext cx="1104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4292E8"/>
                </a:solidFill>
              </a:defRPr>
            </a:pPr>
            <a:r>
              <a:rPr sz="1500" b="1" i="0">
                <a:solidFill>
                  <a:srgbClr val="4292E8"/>
                </a:solidFill>
              </a:rPr>
              <a:t>Listen → understand → structure → verify → recommend → human approves → act → monitor → learn</a:t>
            </a:r>
          </a:p>
        </p:txBody>
      </p:sp>
    </p:spTree>
    <p:extLst>
      <p:ext uri="{BB962C8B-B14F-4D97-AF65-F5344CB8AC3E}">
        <p14:creationId xmlns:p14="http://schemas.microsoft.com/office/powerpoint/2010/main" val="169894403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fad86874e4d4738"/>
          <a:srcRect xmlns:a="http://schemas.openxmlformats.org/drawingml/2006/main" l="0" t="15" r="0" b="15"/>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E0F94D-8916-445A-BBA2-B3D6E7B95318}"/>
              </a:ext>
            </a:extLst>
          </p:cNvPr>
          <p:cNvSpPr>
            <a:spLocks xmlns:a="http://schemas.openxmlformats.org/drawingml/2006/main" noGrp="1"/>
          </p:cNvSpPr>
          <p:nvPr/>
        </p:nvSpPr>
        <p:spPr>
          <a:xfrm xmlns:a="http://schemas.openxmlformats.org/drawingml/2006/main">
            <a:off x="1000125" y="2238375"/>
            <a:ext cx="12668250" cy="4905375"/>
          </a:xfrm>
          <a:prstGeom xmlns:a="http://schemas.openxmlformats.org/drawingml/2006/main" prst="roundRect">
            <a:avLst>
              <a:gd name="adj" fmla="val 2330"/>
            </a:avLst>
          </a:prstGeom>
          <a:solidFill xmlns:a="http://schemas.openxmlformats.org/drawingml/2006/main">
            <a:srgbClr val="FFFFFF"/>
          </a:solidFill>
          <a:ln xmlns:a="http://schemas.openxmlformats.org/drawingml/2006/main" w="9525">
            <a:solidFill>
              <a:srgbClr val="DCEBFB"/>
            </a:solidFill>
            <a:prstDash val="solid"/>
          </a:ln>
        </p:spPr>
      </p:sp>
      <p:sp>
        <p:nvSpPr>
          <p:cNvPr id="3" name="">
            <a:extLst xmlns:a="http://schemas.openxmlformats.org/drawingml/2006/main">
              <a:ext uri="{FF2B5EF4-FFF2-40B4-BE49-F238E27FC236}">
                <a16:creationId xmlns:a16="http://schemas.microsoft.com/office/drawing/2014/main" id="{F2931895-557E-4AF4-A135-4E3D24573693}"/>
              </a:ext>
            </a:extLst>
          </p:cNvPr>
          <p:cNvSpPr>
            <a:spLocks xmlns:a="http://schemas.openxmlformats.org/drawingml/2006/main" noGrp="1"/>
          </p:cNvSpPr>
          <p:nvPr/>
        </p:nvSpPr>
        <p:spPr>
          <a:xfrm xmlns:a="http://schemas.openxmlformats.org/drawingml/2006/main">
            <a:off x="1428750" y="2190750"/>
            <a:ext cx="904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525" b="1" i="0">
                <a:solidFill>
                  <a:srgbClr val="4292E8"/>
                </a:solidFill>
              </a:defRPr>
            </a:pPr>
            <a:r>
              <a:rPr sz="3525" b="1" i="0">
                <a:solidFill>
                  <a:srgbClr val="4292E8"/>
                </a:solidFill>
              </a:rPr>
              <a:t>Traceable evidence at every step.</a:t>
            </a:r>
          </a:p>
        </p:txBody>
      </p:sp>
      <p:sp>
        <p:nvSpPr>
          <p:cNvPr id="4" name="">
            <a:extLst xmlns:a="http://schemas.openxmlformats.org/drawingml/2006/main">
              <a:ext uri="{FF2B5EF4-FFF2-40B4-BE49-F238E27FC236}">
                <a16:creationId xmlns:a16="http://schemas.microsoft.com/office/drawing/2014/main" id="{316CA4FA-CCAE-4FDB-822B-26396060AD43}"/>
              </a:ext>
            </a:extLst>
          </p:cNvPr>
          <p:cNvSpPr>
            <a:spLocks xmlns:a="http://schemas.openxmlformats.org/drawingml/2006/main" noGrp="1"/>
          </p:cNvSpPr>
          <p:nvPr/>
        </p:nvSpPr>
        <p:spPr>
          <a:xfrm xmlns:a="http://schemas.openxmlformats.org/drawingml/2006/main">
            <a:off x="1333500" y="3619500"/>
            <a:ext cx="261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i="0">
                <a:solidFill>
                  <a:srgbClr val="4292E8"/>
                </a:solidFill>
              </a:defRPr>
            </a:pPr>
            <a:r>
              <a:rPr sz="1800" b="1" i="0">
                <a:solidFill>
                  <a:srgbClr val="4292E8"/>
                </a:solidFill>
              </a:rPr>
              <a:t>Shared truth</a:t>
            </a:r>
          </a:p>
        </p:txBody>
      </p:sp>
      <p:sp>
        <p:nvSpPr>
          <p:cNvPr id="5" name="">
            <a:extLst xmlns:a="http://schemas.openxmlformats.org/drawingml/2006/main">
              <a:ext uri="{FF2B5EF4-FFF2-40B4-BE49-F238E27FC236}">
                <a16:creationId xmlns:a16="http://schemas.microsoft.com/office/drawing/2014/main" id="{2A0FF621-BDEB-47B0-96F5-937147A81953}"/>
              </a:ext>
            </a:extLst>
          </p:cNvPr>
          <p:cNvSpPr>
            <a:spLocks xmlns:a="http://schemas.openxmlformats.org/drawingml/2006/main" noGrp="1"/>
          </p:cNvSpPr>
          <p:nvPr/>
        </p:nvSpPr>
        <p:spPr>
          <a:xfrm xmlns:a="http://schemas.openxmlformats.org/drawingml/2006/main">
            <a:off x="1333500" y="4048125"/>
            <a:ext cx="2619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i="0">
                <a:solidFill>
                  <a:srgbClr val="3E4655"/>
                </a:solidFill>
              </a:defRPr>
            </a:pPr>
            <a:r>
              <a:rPr sz="1425" b="0" i="0">
                <a:solidFill>
                  <a:srgbClr val="3E4655"/>
                </a:solidFill>
              </a:rPr>
              <a:t>Confirmed facts vs assumptions / hypotheses</a:t>
            </a:r>
          </a:p>
          <a:p xmlns:a="http://schemas.openxmlformats.org/drawingml/2006/main">
            <a:pPr algn="l">
              <a:defRPr sz="1425" b="0" i="0">
                <a:solidFill>
                  <a:srgbClr val="3E4655"/>
                </a:solidFill>
              </a:defRPr>
            </a:pPr>
            <a:r>
              <a:rPr sz="1425" b="0" i="0">
                <a:solidFill>
                  <a:srgbClr val="3E4655"/>
                </a:solidFill>
              </a:rPr>
              <a:t>Decisions, action items, ownership</a:t>
            </a:r>
          </a:p>
          <a:p xmlns:a="http://schemas.openxmlformats.org/drawingml/2006/main">
            <a:pPr algn="l">
              <a:defRPr sz="1425" b="0" i="0">
                <a:solidFill>
                  <a:srgbClr val="3E4655"/>
                </a:solidFill>
              </a:defRPr>
            </a:pPr>
            <a:r>
              <a:rPr sz="1425" b="0" i="0">
                <a:solidFill>
                  <a:srgbClr val="3E4655"/>
                </a:solidFill>
              </a:rPr>
              <a:t>Live incident timeline</a:t>
            </a:r>
          </a:p>
        </p:txBody>
      </p:sp>
      <p:sp>
        <p:nvSpPr>
          <p:cNvPr id="6" name="">
            <a:extLst xmlns:a="http://schemas.openxmlformats.org/drawingml/2006/main">
              <a:ext uri="{FF2B5EF4-FFF2-40B4-BE49-F238E27FC236}">
                <a16:creationId xmlns:a16="http://schemas.microsoft.com/office/drawing/2014/main" id="{09EEC8D5-CD05-495A-844F-F4F39879D8F8}"/>
              </a:ext>
            </a:extLst>
          </p:cNvPr>
          <p:cNvSpPr>
            <a:spLocks xmlns:a="http://schemas.openxmlformats.org/drawingml/2006/main" noGrp="1"/>
          </p:cNvSpPr>
          <p:nvPr/>
        </p:nvSpPr>
        <p:spPr>
          <a:xfrm xmlns:a="http://schemas.openxmlformats.org/drawingml/2006/main">
            <a:off x="4286250" y="3619500"/>
            <a:ext cx="261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i="0">
                <a:solidFill>
                  <a:srgbClr val="4292E8"/>
                </a:solidFill>
              </a:defRPr>
            </a:pPr>
            <a:r>
              <a:rPr sz="1800" b="1" i="0">
                <a:solidFill>
                  <a:srgbClr val="4292E8"/>
                </a:solidFill>
              </a:rPr>
              <a:t>Safety &amp; alignment</a:t>
            </a:r>
          </a:p>
        </p:txBody>
      </p:sp>
      <p:sp>
        <p:nvSpPr>
          <p:cNvPr id="7" name="">
            <a:extLst xmlns:a="http://schemas.openxmlformats.org/drawingml/2006/main">
              <a:ext uri="{FF2B5EF4-FFF2-40B4-BE49-F238E27FC236}">
                <a16:creationId xmlns:a16="http://schemas.microsoft.com/office/drawing/2014/main" id="{6FDBB11F-BCD8-4386-9599-803F2EA5E4F3}"/>
              </a:ext>
            </a:extLst>
          </p:cNvPr>
          <p:cNvSpPr>
            <a:spLocks xmlns:a="http://schemas.openxmlformats.org/drawingml/2006/main" noGrp="1"/>
          </p:cNvSpPr>
          <p:nvPr/>
        </p:nvSpPr>
        <p:spPr>
          <a:xfrm xmlns:a="http://schemas.openxmlformats.org/drawingml/2006/main">
            <a:off x="4286250" y="4048125"/>
            <a:ext cx="2619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i="0">
                <a:solidFill>
                  <a:srgbClr val="3E4655"/>
                </a:solidFill>
              </a:defRPr>
            </a:pPr>
            <a:r>
              <a:rPr sz="1425" b="0" i="0">
                <a:solidFill>
                  <a:srgbClr val="3E4655"/>
                </a:solidFill>
              </a:rPr>
              <a:t>Missing-info and contradiction graph</a:t>
            </a:r>
          </a:p>
          <a:p xmlns:a="http://schemas.openxmlformats.org/drawingml/2006/main">
            <a:pPr algn="l">
              <a:defRPr sz="1425" b="0" i="0">
                <a:solidFill>
                  <a:srgbClr val="3E4655"/>
                </a:solidFill>
              </a:defRPr>
            </a:pPr>
            <a:r>
              <a:rPr sz="1425" b="0" i="0">
                <a:solidFill>
                  <a:srgbClr val="3E4655"/>
                </a:solidFill>
              </a:rPr>
              <a:t>“What We Still Don’t Know” engine</a:t>
            </a:r>
          </a:p>
          <a:p xmlns:a="http://schemas.openxmlformats.org/drawingml/2006/main">
            <a:pPr algn="l">
              <a:defRPr sz="1425" b="0" i="0">
                <a:solidFill>
                  <a:srgbClr val="3E4655"/>
                </a:solidFill>
              </a:defRPr>
            </a:pPr>
            <a:r>
              <a:rPr sz="1425" b="0" i="0">
                <a:solidFill>
                  <a:srgbClr val="3E4655"/>
                </a:solidFill>
              </a:rPr>
              <a:t>Human confirmation for critical actions</a:t>
            </a:r>
          </a:p>
        </p:txBody>
      </p:sp>
      <p:sp>
        <p:nvSpPr>
          <p:cNvPr id="8" name="">
            <a:extLst xmlns:a="http://schemas.openxmlformats.org/drawingml/2006/main">
              <a:ext uri="{FF2B5EF4-FFF2-40B4-BE49-F238E27FC236}">
                <a16:creationId xmlns:a16="http://schemas.microsoft.com/office/drawing/2014/main" id="{816BE50D-6FB4-4915-BB2C-FF5D7A3DE577}"/>
              </a:ext>
            </a:extLst>
          </p:cNvPr>
          <p:cNvSpPr>
            <a:spLocks xmlns:a="http://schemas.openxmlformats.org/drawingml/2006/main" noGrp="1"/>
          </p:cNvSpPr>
          <p:nvPr/>
        </p:nvSpPr>
        <p:spPr>
          <a:xfrm xmlns:a="http://schemas.openxmlformats.org/drawingml/2006/main">
            <a:off x="7239000" y="3619500"/>
            <a:ext cx="261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i="0">
                <a:solidFill>
                  <a:srgbClr val="4292E8"/>
                </a:solidFill>
              </a:defRPr>
            </a:pPr>
            <a:r>
              <a:rPr sz="1800" b="1" i="0">
                <a:solidFill>
                  <a:srgbClr val="4292E8"/>
                </a:solidFill>
              </a:rPr>
              <a:t>Deep intelligence</a:t>
            </a:r>
          </a:p>
        </p:txBody>
      </p:sp>
      <p:sp>
        <p:nvSpPr>
          <p:cNvPr id="9" name="">
            <a:extLst xmlns:a="http://schemas.openxmlformats.org/drawingml/2006/main">
              <a:ext uri="{FF2B5EF4-FFF2-40B4-BE49-F238E27FC236}">
                <a16:creationId xmlns:a16="http://schemas.microsoft.com/office/drawing/2014/main" id="{EE427264-26C0-498C-91F0-3F178EA6B929}"/>
              </a:ext>
            </a:extLst>
          </p:cNvPr>
          <p:cNvSpPr>
            <a:spLocks xmlns:a="http://schemas.openxmlformats.org/drawingml/2006/main" noGrp="1"/>
          </p:cNvSpPr>
          <p:nvPr/>
        </p:nvSpPr>
        <p:spPr>
          <a:xfrm xmlns:a="http://schemas.openxmlformats.org/drawingml/2006/main">
            <a:off x="7239000" y="4048125"/>
            <a:ext cx="2619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i="0">
                <a:solidFill>
                  <a:srgbClr val="3E4655"/>
                </a:solidFill>
              </a:defRPr>
            </a:pPr>
            <a:r>
              <a:rPr sz="1425" b="0" i="0">
                <a:solidFill>
                  <a:srgbClr val="3E4655"/>
                </a:solidFill>
              </a:rPr>
              <a:t>Evidence Knowledge Graph + confidence</a:t>
            </a:r>
          </a:p>
          <a:p xmlns:a="http://schemas.openxmlformats.org/drawingml/2006/main">
            <a:pPr algn="l">
              <a:defRPr sz="1425" b="0" i="0">
                <a:solidFill>
                  <a:srgbClr val="3E4655"/>
                </a:solidFill>
              </a:defRPr>
            </a:pPr>
            <a:r>
              <a:rPr sz="1425" b="0" i="0">
                <a:solidFill>
                  <a:srgbClr val="3E4655"/>
                </a:solidFill>
              </a:rPr>
              <a:t>Historical memory, vector DB, similar incidents</a:t>
            </a:r>
          </a:p>
          <a:p xmlns:a="http://schemas.openxmlformats.org/drawingml/2006/main">
            <a:pPr algn="l">
              <a:defRPr sz="1425" b="0" i="0">
                <a:solidFill>
                  <a:srgbClr val="3E4655"/>
                </a:solidFill>
              </a:defRPr>
            </a:pPr>
            <a:r>
              <a:rPr sz="1425" b="0" i="0">
                <a:solidFill>
                  <a:srgbClr val="3E4655"/>
                </a:solidFill>
              </a:rPr>
              <a:t>Runbooks, anomaly correlation, severity + blast radius</a:t>
            </a:r>
          </a:p>
        </p:txBody>
      </p:sp>
      <p:sp>
        <p:nvSpPr>
          <p:cNvPr id="10" name="">
            <a:extLst xmlns:a="http://schemas.openxmlformats.org/drawingml/2006/main">
              <a:ext uri="{FF2B5EF4-FFF2-40B4-BE49-F238E27FC236}">
                <a16:creationId xmlns:a16="http://schemas.microsoft.com/office/drawing/2014/main" id="{3AC5486D-8193-4926-A1C9-E9FFFA68147E}"/>
              </a:ext>
            </a:extLst>
          </p:cNvPr>
          <p:cNvSpPr>
            <a:spLocks xmlns:a="http://schemas.openxmlformats.org/drawingml/2006/main" noGrp="1"/>
          </p:cNvSpPr>
          <p:nvPr/>
        </p:nvSpPr>
        <p:spPr>
          <a:xfrm xmlns:a="http://schemas.openxmlformats.org/drawingml/2006/main">
            <a:off x="10191750" y="3619500"/>
            <a:ext cx="261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i="0">
                <a:solidFill>
                  <a:srgbClr val="4292E8"/>
                </a:solidFill>
              </a:defRPr>
            </a:pPr>
            <a:r>
              <a:rPr sz="1800" b="1" i="0">
                <a:solidFill>
                  <a:srgbClr val="4292E8"/>
                </a:solidFill>
              </a:rPr>
              <a:t>Close the loop</a:t>
            </a:r>
          </a:p>
        </p:txBody>
      </p:sp>
      <p:sp>
        <p:nvSpPr>
          <p:cNvPr id="11" name="">
            <a:extLst xmlns:a="http://schemas.openxmlformats.org/drawingml/2006/main">
              <a:ext uri="{FF2B5EF4-FFF2-40B4-BE49-F238E27FC236}">
                <a16:creationId xmlns:a16="http://schemas.microsoft.com/office/drawing/2014/main" id="{032D3321-E86F-4E19-802B-0B48C27FD9F2}"/>
              </a:ext>
            </a:extLst>
          </p:cNvPr>
          <p:cNvSpPr>
            <a:spLocks xmlns:a="http://schemas.openxmlformats.org/drawingml/2006/main" noGrp="1"/>
          </p:cNvSpPr>
          <p:nvPr/>
        </p:nvSpPr>
        <p:spPr>
          <a:xfrm xmlns:a="http://schemas.openxmlformats.org/drawingml/2006/main">
            <a:off x="10191750" y="4048125"/>
            <a:ext cx="2619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i="0">
                <a:solidFill>
                  <a:srgbClr val="3E4655"/>
                </a:solidFill>
              </a:defRPr>
            </a:pPr>
            <a:r>
              <a:rPr sz="1425" b="0" i="0">
                <a:solidFill>
                  <a:srgbClr val="3E4655"/>
                </a:solidFill>
              </a:rPr>
              <a:t>Action aging / escalation</a:t>
            </a:r>
          </a:p>
          <a:p xmlns:a="http://schemas.openxmlformats.org/drawingml/2006/main">
            <a:pPr algn="l">
              <a:defRPr sz="1425" b="0" i="0">
                <a:solidFill>
                  <a:srgbClr val="3E4655"/>
                </a:solidFill>
              </a:defRPr>
            </a:pPr>
            <a:r>
              <a:rPr sz="1425" b="0" i="0">
                <a:solidFill>
                  <a:srgbClr val="3E4655"/>
                </a:solidFill>
              </a:rPr>
              <a:t>Recovery verification + decision audit trail</a:t>
            </a:r>
          </a:p>
          <a:p xmlns:a="http://schemas.openxmlformats.org/drawingml/2006/main">
            <a:pPr algn="l">
              <a:defRPr sz="1425" b="0" i="0">
                <a:solidFill>
                  <a:srgbClr val="3E4655"/>
                </a:solidFill>
              </a:defRPr>
            </a:pPr>
            <a:r>
              <a:rPr sz="1425" b="0" i="0">
                <a:solidFill>
                  <a:srgbClr val="3E4655"/>
                </a:solidFill>
              </a:rPr>
              <a:t>Incident replay, analytics, automatic postmortem</a:t>
            </a:r>
          </a:p>
        </p:txBody>
      </p:sp>
    </p:spTree>
    <p:extLst>
      <p:ext uri="{BB962C8B-B14F-4D97-AF65-F5344CB8AC3E}">
        <p14:creationId xmlns:p14="http://schemas.microsoft.com/office/powerpoint/2010/main" val="148193073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a1fa6e45e9447ea"/>
          <a:srcRect xmlns:a="http://schemas.openxmlformats.org/drawingml/2006/main" l="0" t="15" r="0" b="15"/>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A32DA33-14BE-4101-8C05-897B211FE128}"/>
              </a:ext>
            </a:extLst>
          </p:cNvPr>
          <p:cNvSpPr>
            <a:spLocks xmlns:a="http://schemas.openxmlformats.org/drawingml/2006/main" noGrp="1"/>
          </p:cNvSpPr>
          <p:nvPr/>
        </p:nvSpPr>
        <p:spPr>
          <a:xfrm xmlns:a="http://schemas.openxmlformats.org/drawingml/2006/main">
            <a:off x="904875" y="2190750"/>
            <a:ext cx="12858750" cy="5048250"/>
          </a:xfrm>
          <a:prstGeom xmlns:a="http://schemas.openxmlformats.org/drawingml/2006/main" prst="roundRect">
            <a:avLst>
              <a:gd name="adj" fmla="val 2264"/>
            </a:avLst>
          </a:prstGeom>
          <a:solidFill xmlns:a="http://schemas.openxmlformats.org/drawingml/2006/main">
            <a:srgbClr val="FFFFFF"/>
          </a:solidFill>
          <a:ln xmlns:a="http://schemas.openxmlformats.org/drawingml/2006/main" w="9525">
            <a:solidFill>
              <a:srgbClr val="DCEBFB"/>
            </a:solidFill>
            <a:prstDash val="solid"/>
          </a:ln>
        </p:spPr>
      </p:sp>
      <p:sp>
        <p:nvSpPr>
          <p:cNvPr id="3" name="">
            <a:extLst xmlns:a="http://schemas.openxmlformats.org/drawingml/2006/main">
              <a:ext uri="{FF2B5EF4-FFF2-40B4-BE49-F238E27FC236}">
                <a16:creationId xmlns:a16="http://schemas.microsoft.com/office/drawing/2014/main" id="{1E18880E-3C40-497E-9EC8-EAE41BB87B3B}"/>
              </a:ext>
            </a:extLst>
          </p:cNvPr>
          <p:cNvSpPr>
            <a:spLocks xmlns:a="http://schemas.openxmlformats.org/drawingml/2006/main" noGrp="1"/>
          </p:cNvSpPr>
          <p:nvPr/>
        </p:nvSpPr>
        <p:spPr>
          <a:xfrm xmlns:a="http://schemas.openxmlformats.org/drawingml/2006/main">
            <a:off x="1428750" y="2190750"/>
            <a:ext cx="904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525" b="1" i="0">
                <a:solidFill>
                  <a:srgbClr val="4292E8"/>
                </a:solidFill>
              </a:defRPr>
            </a:pPr>
            <a:r>
              <a:rPr sz="3525" b="1" i="0">
                <a:solidFill>
                  <a:srgbClr val="4292E8"/>
                </a:solidFill>
              </a:rPr>
              <a:t>Demo: payment outage becomes shared truth.</a:t>
            </a:r>
          </a:p>
        </p:txBody>
      </p:sp>
      <p:sp>
        <p:nvSpPr>
          <p:cNvPr id="4" name="">
            <a:extLst xmlns:a="http://schemas.openxmlformats.org/drawingml/2006/main">
              <a:ext uri="{FF2B5EF4-FFF2-40B4-BE49-F238E27FC236}">
                <a16:creationId xmlns:a16="http://schemas.microsoft.com/office/drawing/2014/main" id="{93FDEC58-8465-4BB1-AEB5-D64C8D5C78CD}"/>
              </a:ext>
            </a:extLst>
          </p:cNvPr>
          <p:cNvSpPr>
            <a:spLocks xmlns:a="http://schemas.openxmlformats.org/drawingml/2006/main" noGrp="1"/>
          </p:cNvSpPr>
          <p:nvPr/>
        </p:nvSpPr>
        <p:spPr>
          <a:xfrm xmlns:a="http://schemas.openxmlformats.org/drawingml/2006/main">
            <a:off x="1381125" y="347662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4292E8"/>
                </a:solidFill>
              </a:defRPr>
            </a:pPr>
            <a:r>
              <a:rPr sz="1275" b="1" i="0">
                <a:solidFill>
                  <a:srgbClr val="4292E8"/>
                </a:solidFill>
              </a:rPr>
              <a:t>14:31</a:t>
            </a:r>
          </a:p>
        </p:txBody>
      </p:sp>
      <p:sp>
        <p:nvSpPr>
          <p:cNvPr id="5" name="">
            <a:extLst xmlns:a="http://schemas.openxmlformats.org/drawingml/2006/main">
              <a:ext uri="{FF2B5EF4-FFF2-40B4-BE49-F238E27FC236}">
                <a16:creationId xmlns:a16="http://schemas.microsoft.com/office/drawing/2014/main" id="{757275AF-969A-4CB3-B3E2-554FB21E9804}"/>
              </a:ext>
            </a:extLst>
          </p:cNvPr>
          <p:cNvSpPr>
            <a:spLocks xmlns:a="http://schemas.openxmlformats.org/drawingml/2006/main" noGrp="1"/>
          </p:cNvSpPr>
          <p:nvPr/>
        </p:nvSpPr>
        <p:spPr>
          <a:xfrm xmlns:a="http://schemas.openxmlformats.org/drawingml/2006/main">
            <a:off x="2333625" y="3476625"/>
            <a:ext cx="495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i="0">
                <a:solidFill>
                  <a:srgbClr val="10141E"/>
                </a:solidFill>
              </a:defRPr>
            </a:pPr>
            <a:r>
              <a:rPr sz="1425" b="1" i="0">
                <a:solidFill>
                  <a:srgbClr val="10141E"/>
                </a:solidFill>
              </a:rPr>
              <a:t>Backend: “Payment API is failing.”</a:t>
            </a:r>
          </a:p>
        </p:txBody>
      </p:sp>
      <p:sp>
        <p:nvSpPr>
          <p:cNvPr id="6" name="">
            <a:extLst xmlns:a="http://schemas.openxmlformats.org/drawingml/2006/main">
              <a:ext uri="{FF2B5EF4-FFF2-40B4-BE49-F238E27FC236}">
                <a16:creationId xmlns:a16="http://schemas.microsoft.com/office/drawing/2014/main" id="{4A5289A2-4311-4418-A7E3-C5FAEFF5A78F}"/>
              </a:ext>
            </a:extLst>
          </p:cNvPr>
          <p:cNvSpPr>
            <a:spLocks xmlns:a="http://schemas.openxmlformats.org/drawingml/2006/main" noGrp="1"/>
          </p:cNvSpPr>
          <p:nvPr/>
        </p:nvSpPr>
        <p:spPr>
          <a:xfrm xmlns:a="http://schemas.openxmlformats.org/drawingml/2006/main">
            <a:off x="7477125" y="3476625"/>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3E4655"/>
                </a:solidFill>
              </a:defRPr>
            </a:pPr>
            <a:r>
              <a:rPr sz="1350" b="0" i="0">
                <a:solidFill>
                  <a:srgbClr val="3E4655"/>
                </a:solidFill>
              </a:rPr>
              <a:t>Confirmed fact + timeline event</a:t>
            </a:r>
          </a:p>
        </p:txBody>
      </p:sp>
      <p:sp>
        <p:nvSpPr>
          <p:cNvPr id="7" name="">
            <a:extLst xmlns:a="http://schemas.openxmlformats.org/drawingml/2006/main">
              <a:ext uri="{FF2B5EF4-FFF2-40B4-BE49-F238E27FC236}">
                <a16:creationId xmlns:a16="http://schemas.microsoft.com/office/drawing/2014/main" id="{CDCC6B82-E220-413C-8A84-104E42A1CA41}"/>
              </a:ext>
            </a:extLst>
          </p:cNvPr>
          <p:cNvSpPr>
            <a:spLocks xmlns:a="http://schemas.openxmlformats.org/drawingml/2006/main" noGrp="1"/>
          </p:cNvSpPr>
          <p:nvPr/>
        </p:nvSpPr>
        <p:spPr>
          <a:xfrm xmlns:a="http://schemas.openxmlformats.org/drawingml/2006/main">
            <a:off x="1381125" y="39909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4292E8"/>
                </a:solidFill>
              </a:defRPr>
            </a:pPr>
            <a:r>
              <a:rPr sz="1275" b="1" i="0">
                <a:solidFill>
                  <a:srgbClr val="4292E8"/>
                </a:solidFill>
              </a:rPr>
              <a:t>14:33</a:t>
            </a:r>
          </a:p>
        </p:txBody>
      </p:sp>
      <p:sp>
        <p:nvSpPr>
          <p:cNvPr id="8" name="">
            <a:extLst xmlns:a="http://schemas.openxmlformats.org/drawingml/2006/main">
              <a:ext uri="{FF2B5EF4-FFF2-40B4-BE49-F238E27FC236}">
                <a16:creationId xmlns:a16="http://schemas.microsoft.com/office/drawing/2014/main" id="{AD9B5EAF-13EC-4AF7-9E20-37C876482A7A}"/>
              </a:ext>
            </a:extLst>
          </p:cNvPr>
          <p:cNvSpPr>
            <a:spLocks xmlns:a="http://schemas.openxmlformats.org/drawingml/2006/main" noGrp="1"/>
          </p:cNvSpPr>
          <p:nvPr/>
        </p:nvSpPr>
        <p:spPr>
          <a:xfrm xmlns:a="http://schemas.openxmlformats.org/drawingml/2006/main">
            <a:off x="2333625" y="3990975"/>
            <a:ext cx="495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i="0">
                <a:solidFill>
                  <a:srgbClr val="10141E"/>
                </a:solidFill>
              </a:defRPr>
            </a:pPr>
            <a:r>
              <a:rPr sz="1425" b="1" i="0">
                <a:solidFill>
                  <a:srgbClr val="10141E"/>
                </a:solidFill>
              </a:rPr>
              <a:t>DevOps: “DB pool may be exhausted.”</a:t>
            </a:r>
          </a:p>
        </p:txBody>
      </p:sp>
      <p:sp>
        <p:nvSpPr>
          <p:cNvPr id="9" name="">
            <a:extLst xmlns:a="http://schemas.openxmlformats.org/drawingml/2006/main">
              <a:ext uri="{FF2B5EF4-FFF2-40B4-BE49-F238E27FC236}">
                <a16:creationId xmlns:a16="http://schemas.microsoft.com/office/drawing/2014/main" id="{79B3EFFF-5BBB-4054-80A6-8959D45FBFEA}"/>
              </a:ext>
            </a:extLst>
          </p:cNvPr>
          <p:cNvSpPr>
            <a:spLocks xmlns:a="http://schemas.openxmlformats.org/drawingml/2006/main" noGrp="1"/>
          </p:cNvSpPr>
          <p:nvPr/>
        </p:nvSpPr>
        <p:spPr>
          <a:xfrm xmlns:a="http://schemas.openxmlformats.org/drawingml/2006/main">
            <a:off x="7477125" y="3990975"/>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3E4655"/>
                </a:solidFill>
              </a:defRPr>
            </a:pPr>
            <a:r>
              <a:rPr sz="1350" b="0" i="0">
                <a:solidFill>
                  <a:srgbClr val="3E4655"/>
                </a:solidFill>
              </a:rPr>
              <a:t>Hypothesis — not confirmed</a:t>
            </a:r>
          </a:p>
        </p:txBody>
      </p:sp>
      <p:sp>
        <p:nvSpPr>
          <p:cNvPr id="10" name="">
            <a:extLst xmlns:a="http://schemas.openxmlformats.org/drawingml/2006/main">
              <a:ext uri="{FF2B5EF4-FFF2-40B4-BE49-F238E27FC236}">
                <a16:creationId xmlns:a16="http://schemas.microsoft.com/office/drawing/2014/main" id="{D841021F-EC29-4DFE-B5AF-4D1D615AB556}"/>
              </a:ext>
            </a:extLst>
          </p:cNvPr>
          <p:cNvSpPr>
            <a:spLocks xmlns:a="http://schemas.openxmlformats.org/drawingml/2006/main" noGrp="1"/>
          </p:cNvSpPr>
          <p:nvPr/>
        </p:nvSpPr>
        <p:spPr>
          <a:xfrm xmlns:a="http://schemas.openxmlformats.org/drawingml/2006/main">
            <a:off x="1381125" y="450532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4292E8"/>
                </a:solidFill>
              </a:defRPr>
            </a:pPr>
            <a:r>
              <a:rPr sz="1275" b="1" i="0">
                <a:solidFill>
                  <a:srgbClr val="4292E8"/>
                </a:solidFill>
              </a:rPr>
              <a:t>14:34</a:t>
            </a:r>
          </a:p>
        </p:txBody>
      </p:sp>
      <p:sp>
        <p:nvSpPr>
          <p:cNvPr id="11" name="">
            <a:extLst xmlns:a="http://schemas.openxmlformats.org/drawingml/2006/main">
              <a:ext uri="{FF2B5EF4-FFF2-40B4-BE49-F238E27FC236}">
                <a16:creationId xmlns:a16="http://schemas.microsoft.com/office/drawing/2014/main" id="{123384EE-2909-480A-BF88-974A5CA66AA5}"/>
              </a:ext>
            </a:extLst>
          </p:cNvPr>
          <p:cNvSpPr>
            <a:spLocks xmlns:a="http://schemas.openxmlformats.org/drawingml/2006/main" noGrp="1"/>
          </p:cNvSpPr>
          <p:nvPr/>
        </p:nvSpPr>
        <p:spPr>
          <a:xfrm xmlns:a="http://schemas.openxmlformats.org/drawingml/2006/main">
            <a:off x="2333625" y="4505325"/>
            <a:ext cx="495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i="0">
                <a:solidFill>
                  <a:srgbClr val="10141E"/>
                </a:solidFill>
              </a:defRPr>
            </a:pPr>
            <a:r>
              <a:rPr sz="1425" b="1" i="0">
                <a:solidFill>
                  <a:srgbClr val="10141E"/>
                </a:solidFill>
              </a:rPr>
              <a:t>Metrics show normal DB saturation.</a:t>
            </a:r>
          </a:p>
        </p:txBody>
      </p:sp>
      <p:sp>
        <p:nvSpPr>
          <p:cNvPr id="12" name="">
            <a:extLst xmlns:a="http://schemas.openxmlformats.org/drawingml/2006/main">
              <a:ext uri="{FF2B5EF4-FFF2-40B4-BE49-F238E27FC236}">
                <a16:creationId xmlns:a16="http://schemas.microsoft.com/office/drawing/2014/main" id="{7AF82B30-8D99-44AD-A9A7-EFA55C8EECC6}"/>
              </a:ext>
            </a:extLst>
          </p:cNvPr>
          <p:cNvSpPr>
            <a:spLocks xmlns:a="http://schemas.openxmlformats.org/drawingml/2006/main" noGrp="1"/>
          </p:cNvSpPr>
          <p:nvPr/>
        </p:nvSpPr>
        <p:spPr>
          <a:xfrm xmlns:a="http://schemas.openxmlformats.org/drawingml/2006/main">
            <a:off x="7477125" y="4505325"/>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3E4655"/>
                </a:solidFill>
              </a:defRPr>
            </a:pPr>
            <a:r>
              <a:rPr sz="1350" b="0" i="0">
                <a:solidFill>
                  <a:srgbClr val="3E4655"/>
                </a:solidFill>
              </a:rPr>
              <a:t>Conflict surfaced; evidence linked</a:t>
            </a:r>
          </a:p>
        </p:txBody>
      </p:sp>
      <p:sp>
        <p:nvSpPr>
          <p:cNvPr id="13" name="">
            <a:extLst xmlns:a="http://schemas.openxmlformats.org/drawingml/2006/main">
              <a:ext uri="{FF2B5EF4-FFF2-40B4-BE49-F238E27FC236}">
                <a16:creationId xmlns:a16="http://schemas.microsoft.com/office/drawing/2014/main" id="{275FB95D-46D8-4C52-B6F1-681B6945C585}"/>
              </a:ext>
            </a:extLst>
          </p:cNvPr>
          <p:cNvSpPr>
            <a:spLocks xmlns:a="http://schemas.openxmlformats.org/drawingml/2006/main" noGrp="1"/>
          </p:cNvSpPr>
          <p:nvPr/>
        </p:nvSpPr>
        <p:spPr>
          <a:xfrm xmlns:a="http://schemas.openxmlformats.org/drawingml/2006/main">
            <a:off x="1381125" y="50196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4292E8"/>
                </a:solidFill>
              </a:defRPr>
            </a:pPr>
            <a:r>
              <a:rPr sz="1275" b="1" i="0">
                <a:solidFill>
                  <a:srgbClr val="4292E8"/>
                </a:solidFill>
              </a:rPr>
              <a:t>14:35</a:t>
            </a:r>
          </a:p>
        </p:txBody>
      </p:sp>
      <p:sp>
        <p:nvSpPr>
          <p:cNvPr id="14" name="">
            <a:extLst xmlns:a="http://schemas.openxmlformats.org/drawingml/2006/main">
              <a:ext uri="{FF2B5EF4-FFF2-40B4-BE49-F238E27FC236}">
                <a16:creationId xmlns:a16="http://schemas.microsoft.com/office/drawing/2014/main" id="{E511F938-D082-4ECB-B5F9-2A252A1C3EAD}"/>
              </a:ext>
            </a:extLst>
          </p:cNvPr>
          <p:cNvSpPr>
            <a:spLocks xmlns:a="http://schemas.openxmlformats.org/drawingml/2006/main" noGrp="1"/>
          </p:cNvSpPr>
          <p:nvPr/>
        </p:nvSpPr>
        <p:spPr>
          <a:xfrm xmlns:a="http://schemas.openxmlformats.org/drawingml/2006/main">
            <a:off x="2333625" y="5019675"/>
            <a:ext cx="495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i="0">
                <a:solidFill>
                  <a:srgbClr val="10141E"/>
                </a:solidFill>
              </a:defRPr>
            </a:pPr>
            <a:r>
              <a:rPr sz="1425" b="1" i="0">
                <a:solidFill>
                  <a:srgbClr val="10141E"/>
                </a:solidFill>
              </a:rPr>
              <a:t>“Fuzail, inspect gateway logs.”</a:t>
            </a:r>
          </a:p>
        </p:txBody>
      </p:sp>
      <p:sp>
        <p:nvSpPr>
          <p:cNvPr id="15" name="">
            <a:extLst xmlns:a="http://schemas.openxmlformats.org/drawingml/2006/main">
              <a:ext uri="{FF2B5EF4-FFF2-40B4-BE49-F238E27FC236}">
                <a16:creationId xmlns:a16="http://schemas.microsoft.com/office/drawing/2014/main" id="{A149F84B-1941-499E-895E-0818DAA2DF9F}"/>
              </a:ext>
            </a:extLst>
          </p:cNvPr>
          <p:cNvSpPr>
            <a:spLocks xmlns:a="http://schemas.openxmlformats.org/drawingml/2006/main" noGrp="1"/>
          </p:cNvSpPr>
          <p:nvPr/>
        </p:nvSpPr>
        <p:spPr>
          <a:xfrm xmlns:a="http://schemas.openxmlformats.org/drawingml/2006/main">
            <a:off x="7477125" y="5019675"/>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3E4655"/>
                </a:solidFill>
              </a:defRPr>
            </a:pPr>
            <a:r>
              <a:rPr sz="1350" b="0" i="0">
                <a:solidFill>
                  <a:srgbClr val="3E4655"/>
                </a:solidFill>
              </a:rPr>
              <a:t>Action assigned; owner + follow-up</a:t>
            </a:r>
          </a:p>
        </p:txBody>
      </p:sp>
      <p:sp>
        <p:nvSpPr>
          <p:cNvPr id="16" name="">
            <a:extLst xmlns:a="http://schemas.openxmlformats.org/drawingml/2006/main">
              <a:ext uri="{FF2B5EF4-FFF2-40B4-BE49-F238E27FC236}">
                <a16:creationId xmlns:a16="http://schemas.microsoft.com/office/drawing/2014/main" id="{F70A09C6-028C-4570-8436-DF5D55B707B1}"/>
              </a:ext>
            </a:extLst>
          </p:cNvPr>
          <p:cNvSpPr>
            <a:spLocks xmlns:a="http://schemas.openxmlformats.org/drawingml/2006/main" noGrp="1"/>
          </p:cNvSpPr>
          <p:nvPr/>
        </p:nvSpPr>
        <p:spPr>
          <a:xfrm xmlns:a="http://schemas.openxmlformats.org/drawingml/2006/main">
            <a:off x="1381125" y="553402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4292E8"/>
                </a:solidFill>
              </a:defRPr>
            </a:pPr>
            <a:r>
              <a:rPr sz="1275" b="1" i="0">
                <a:solidFill>
                  <a:srgbClr val="4292E8"/>
                </a:solidFill>
              </a:rPr>
              <a:t>14:38</a:t>
            </a:r>
          </a:p>
        </p:txBody>
      </p:sp>
      <p:sp>
        <p:nvSpPr>
          <p:cNvPr id="17" name="">
            <a:extLst xmlns:a="http://schemas.openxmlformats.org/drawingml/2006/main">
              <a:ext uri="{FF2B5EF4-FFF2-40B4-BE49-F238E27FC236}">
                <a16:creationId xmlns:a16="http://schemas.microsoft.com/office/drawing/2014/main" id="{2433B7B8-E580-41CC-80AF-2E927C5558A5}"/>
              </a:ext>
            </a:extLst>
          </p:cNvPr>
          <p:cNvSpPr>
            <a:spLocks xmlns:a="http://schemas.openxmlformats.org/drawingml/2006/main" noGrp="1"/>
          </p:cNvSpPr>
          <p:nvPr/>
        </p:nvSpPr>
        <p:spPr>
          <a:xfrm xmlns:a="http://schemas.openxmlformats.org/drawingml/2006/main">
            <a:off x="2333625" y="5534025"/>
            <a:ext cx="495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i="0">
                <a:solidFill>
                  <a:srgbClr val="10141E"/>
                </a:solidFill>
              </a:defRPr>
            </a:pPr>
            <a:r>
              <a:rPr sz="1425" b="1" i="0">
                <a:solidFill>
                  <a:srgbClr val="10141E"/>
                </a:solidFill>
              </a:rPr>
              <a:t>Commander speaks a status summary.</a:t>
            </a:r>
          </a:p>
        </p:txBody>
      </p:sp>
      <p:sp>
        <p:nvSpPr>
          <p:cNvPr id="18" name="">
            <a:extLst xmlns:a="http://schemas.openxmlformats.org/drawingml/2006/main">
              <a:ext uri="{FF2B5EF4-FFF2-40B4-BE49-F238E27FC236}">
                <a16:creationId xmlns:a16="http://schemas.microsoft.com/office/drawing/2014/main" id="{50F38C26-D7C1-4F31-AE93-5B0CCDD7BAF5}"/>
              </a:ext>
            </a:extLst>
          </p:cNvPr>
          <p:cNvSpPr>
            <a:spLocks xmlns:a="http://schemas.openxmlformats.org/drawingml/2006/main" noGrp="1"/>
          </p:cNvSpPr>
          <p:nvPr/>
        </p:nvSpPr>
        <p:spPr>
          <a:xfrm xmlns:a="http://schemas.openxmlformats.org/drawingml/2006/main">
            <a:off x="7477125" y="5534025"/>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3E4655"/>
                </a:solidFill>
              </a:defRPr>
            </a:pPr>
            <a:r>
              <a:rPr sz="1350" b="0" i="0">
                <a:solidFill>
                  <a:srgbClr val="3E4655"/>
                </a:solidFill>
              </a:rPr>
              <a:t>No root cause claimed; risks remain visible</a:t>
            </a:r>
          </a:p>
        </p:txBody>
      </p:sp>
      <p:sp>
        <p:nvSpPr>
          <p:cNvPr id="19" name="">
            <a:extLst xmlns:a="http://schemas.openxmlformats.org/drawingml/2006/main">
              <a:ext uri="{FF2B5EF4-FFF2-40B4-BE49-F238E27FC236}">
                <a16:creationId xmlns:a16="http://schemas.microsoft.com/office/drawing/2014/main" id="{F4C2230B-A5AF-49DC-8764-793F40F05816}"/>
              </a:ext>
            </a:extLst>
          </p:cNvPr>
          <p:cNvSpPr>
            <a:spLocks xmlns:a="http://schemas.openxmlformats.org/drawingml/2006/main" noGrp="1"/>
          </p:cNvSpPr>
          <p:nvPr/>
        </p:nvSpPr>
        <p:spPr>
          <a:xfrm xmlns:a="http://schemas.openxmlformats.org/drawingml/2006/main">
            <a:off x="1381125" y="6048375"/>
            <a:ext cx="80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4292E8"/>
                </a:solidFill>
              </a:defRPr>
            </a:pPr>
            <a:r>
              <a:rPr sz="1275" b="1" i="0">
                <a:solidFill>
                  <a:srgbClr val="4292E8"/>
                </a:solidFill>
              </a:rPr>
              <a:t>Recovery</a:t>
            </a:r>
          </a:p>
        </p:txBody>
      </p:sp>
      <p:sp>
        <p:nvSpPr>
          <p:cNvPr id="20" name="">
            <a:extLst xmlns:a="http://schemas.openxmlformats.org/drawingml/2006/main">
              <a:ext uri="{FF2B5EF4-FFF2-40B4-BE49-F238E27FC236}">
                <a16:creationId xmlns:a16="http://schemas.microsoft.com/office/drawing/2014/main" id="{B0C7E924-2F94-46AA-9B1D-963152A6E66B}"/>
              </a:ext>
            </a:extLst>
          </p:cNvPr>
          <p:cNvSpPr>
            <a:spLocks xmlns:a="http://schemas.openxmlformats.org/drawingml/2006/main" noGrp="1"/>
          </p:cNvSpPr>
          <p:nvPr/>
        </p:nvSpPr>
        <p:spPr>
          <a:xfrm xmlns:a="http://schemas.openxmlformats.org/drawingml/2006/main">
            <a:off x="2333625" y="6048375"/>
            <a:ext cx="495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i="0">
                <a:solidFill>
                  <a:srgbClr val="10141E"/>
                </a:solidFill>
              </a:defRPr>
            </a:pPr>
            <a:r>
              <a:rPr sz="1425" b="1" i="0">
                <a:solidFill>
                  <a:srgbClr val="10141E"/>
                </a:solidFill>
              </a:rPr>
              <a:t>Human approves mitigation; system verifies.</a:t>
            </a:r>
          </a:p>
        </p:txBody>
      </p:sp>
      <p:sp>
        <p:nvSpPr>
          <p:cNvPr id="21" name="">
            <a:extLst xmlns:a="http://schemas.openxmlformats.org/drawingml/2006/main">
              <a:ext uri="{FF2B5EF4-FFF2-40B4-BE49-F238E27FC236}">
                <a16:creationId xmlns:a16="http://schemas.microsoft.com/office/drawing/2014/main" id="{E0F2D3CE-E673-4580-952C-1908C71684DE}"/>
              </a:ext>
            </a:extLst>
          </p:cNvPr>
          <p:cNvSpPr>
            <a:spLocks xmlns:a="http://schemas.openxmlformats.org/drawingml/2006/main" noGrp="1"/>
          </p:cNvSpPr>
          <p:nvPr/>
        </p:nvSpPr>
        <p:spPr>
          <a:xfrm xmlns:a="http://schemas.openxmlformats.org/drawingml/2006/main">
            <a:off x="7477125" y="6048375"/>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3E4655"/>
                </a:solidFill>
              </a:defRPr>
            </a:pPr>
            <a:r>
              <a:rPr sz="1350" b="0" i="0">
                <a:solidFill>
                  <a:srgbClr val="3E4655"/>
                </a:solidFill>
              </a:rPr>
              <a:t>Final summary + unresolved risks</a:t>
            </a:r>
          </a:p>
        </p:txBody>
      </p:sp>
    </p:spTree>
    <p:extLst>
      <p:ext uri="{BB962C8B-B14F-4D97-AF65-F5344CB8AC3E}">
        <p14:creationId xmlns:p14="http://schemas.microsoft.com/office/powerpoint/2010/main" val="146997858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b9974b885384c39"/>
          <a:srcRect xmlns:a="http://schemas.openxmlformats.org/drawingml/2006/main" l="0" t="15" r="0" b="15"/>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E118DBF-8EB1-46CA-A817-A8F736193673}"/>
              </a:ext>
            </a:extLst>
          </p:cNvPr>
          <p:cNvSpPr>
            <a:spLocks xmlns:a="http://schemas.openxmlformats.org/drawingml/2006/main" noGrp="1"/>
          </p:cNvSpPr>
          <p:nvPr/>
        </p:nvSpPr>
        <p:spPr>
          <a:xfrm xmlns:a="http://schemas.openxmlformats.org/drawingml/2006/main">
            <a:off x="1000125" y="1952625"/>
            <a:ext cx="12715875" cy="5095875"/>
          </a:xfrm>
          <a:prstGeom xmlns:a="http://schemas.openxmlformats.org/drawingml/2006/main" prst="roundRect">
            <a:avLst>
              <a:gd name="adj" fmla="val 2243"/>
            </a:avLst>
          </a:prstGeom>
          <a:solidFill xmlns:a="http://schemas.openxmlformats.org/drawingml/2006/main">
            <a:srgbClr val="FFFFFF"/>
          </a:solidFill>
          <a:ln xmlns:a="http://schemas.openxmlformats.org/drawingml/2006/main" w="9525">
            <a:solidFill>
              <a:srgbClr val="DCEBFB"/>
            </a:solidFill>
            <a:prstDash val="solid"/>
          </a:ln>
        </p:spPr>
      </p:sp>
      <p:sp>
        <p:nvSpPr>
          <p:cNvPr id="3" name="">
            <a:extLst xmlns:a="http://schemas.openxmlformats.org/drawingml/2006/main">
              <a:ext uri="{FF2B5EF4-FFF2-40B4-BE49-F238E27FC236}">
                <a16:creationId xmlns:a16="http://schemas.microsoft.com/office/drawing/2014/main" id="{7AABFF2D-271B-4C57-A63D-8C6ACF681AEC}"/>
              </a:ext>
            </a:extLst>
          </p:cNvPr>
          <p:cNvSpPr>
            <a:spLocks xmlns:a="http://schemas.openxmlformats.org/drawingml/2006/main" noGrp="1"/>
          </p:cNvSpPr>
          <p:nvPr/>
        </p:nvSpPr>
        <p:spPr>
          <a:xfrm xmlns:a="http://schemas.openxmlformats.org/drawingml/2006/main">
            <a:off x="1428750" y="22383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i="0">
                <a:solidFill>
                  <a:srgbClr val="4292E8"/>
                </a:solidFill>
              </a:defRPr>
            </a:pPr>
            <a:r>
              <a:rPr sz="2925" b="1" i="0">
                <a:solidFill>
                  <a:srgbClr val="4292E8"/>
                </a:solidFill>
              </a:rPr>
              <a:t>Additional Notes: Complete Prototype Scope</a:t>
            </a:r>
          </a:p>
        </p:txBody>
      </p:sp>
      <p:sp>
        <p:nvSpPr>
          <p:cNvPr id="4" name="">
            <a:extLst xmlns:a="http://schemas.openxmlformats.org/drawingml/2006/main">
              <a:ext uri="{FF2B5EF4-FFF2-40B4-BE49-F238E27FC236}">
                <a16:creationId xmlns:a16="http://schemas.microsoft.com/office/drawing/2014/main" id="{B10795A2-A1AC-4505-9A2F-62AB7BC9B97A}"/>
              </a:ext>
            </a:extLst>
          </p:cNvPr>
          <p:cNvSpPr>
            <a:spLocks xmlns:a="http://schemas.openxmlformats.org/drawingml/2006/main" noGrp="1"/>
          </p:cNvSpPr>
          <p:nvPr/>
        </p:nvSpPr>
        <p:spPr>
          <a:xfrm xmlns:a="http://schemas.openxmlformats.org/drawingml/2006/main">
            <a:off x="1428750" y="2724150"/>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i="0">
                <a:solidFill>
                  <a:srgbClr val="3E4655"/>
                </a:solidFill>
              </a:defRPr>
            </a:pPr>
            <a:r>
              <a:rPr sz="1350" b="0" i="0">
                <a:solidFill>
                  <a:srgbClr val="3E4655"/>
                </a:solidFill>
              </a:rPr>
              <a:t>ORBIT = Operational Response &amp; Briefing Intelligence Team</a:t>
            </a:r>
          </a:p>
        </p:txBody>
      </p:sp>
      <p:sp>
        <p:nvSpPr>
          <p:cNvPr id="5" name="">
            <a:extLst xmlns:a="http://schemas.openxmlformats.org/drawingml/2006/main">
              <a:ext uri="{FF2B5EF4-FFF2-40B4-BE49-F238E27FC236}">
                <a16:creationId xmlns:a16="http://schemas.microsoft.com/office/drawing/2014/main" id="{8C85A938-88D2-4A1B-A7ED-7BABCFF55738}"/>
              </a:ext>
            </a:extLst>
          </p:cNvPr>
          <p:cNvSpPr>
            <a:spLocks xmlns:a="http://schemas.openxmlformats.org/drawingml/2006/main" noGrp="1"/>
          </p:cNvSpPr>
          <p:nvPr/>
        </p:nvSpPr>
        <p:spPr>
          <a:xfrm xmlns:a="http://schemas.openxmlformats.org/drawingml/2006/main">
            <a:off x="1381125" y="3190875"/>
            <a:ext cx="542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4292E8"/>
                </a:solidFill>
              </a:defRPr>
            </a:pPr>
            <a:r>
              <a:rPr sz="1725" b="1" i="0">
                <a:solidFill>
                  <a:srgbClr val="4292E8"/>
                </a:solidFill>
              </a:rPr>
              <a:t>Live room intelligence</a:t>
            </a:r>
          </a:p>
        </p:txBody>
      </p:sp>
      <p:sp>
        <p:nvSpPr>
          <p:cNvPr id="6" name="">
            <a:extLst xmlns:a="http://schemas.openxmlformats.org/drawingml/2006/main">
              <a:ext uri="{FF2B5EF4-FFF2-40B4-BE49-F238E27FC236}">
                <a16:creationId xmlns:a16="http://schemas.microsoft.com/office/drawing/2014/main" id="{80584EA1-EAC7-4C07-81F7-88FB543C348E}"/>
              </a:ext>
            </a:extLst>
          </p:cNvPr>
          <p:cNvSpPr>
            <a:spLocks xmlns:a="http://schemas.openxmlformats.org/drawingml/2006/main" noGrp="1"/>
          </p:cNvSpPr>
          <p:nvPr/>
        </p:nvSpPr>
        <p:spPr>
          <a:xfrm xmlns:a="http://schemas.openxmlformats.org/drawingml/2006/main">
            <a:off x="1381125" y="3590925"/>
            <a:ext cx="5286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3E4655"/>
                </a:solidFill>
              </a:defRPr>
            </a:pPr>
            <a:r>
              <a:rPr sz="1350" b="0" i="0">
                <a:solidFill>
                  <a:srgbClr val="3E4655"/>
                </a:solidFill>
              </a:rPr>
              <a:t>Agora real-time voice • speaker + role recognition • multilingual conversations • conversational agents • spoken status summaries</a:t>
            </a:r>
          </a:p>
        </p:txBody>
      </p:sp>
      <p:sp>
        <p:nvSpPr>
          <p:cNvPr id="7" name="">
            <a:extLst xmlns:a="http://schemas.openxmlformats.org/drawingml/2006/main">
              <a:ext uri="{FF2B5EF4-FFF2-40B4-BE49-F238E27FC236}">
                <a16:creationId xmlns:a16="http://schemas.microsoft.com/office/drawing/2014/main" id="{27C06304-7EDE-4D09-B2E7-C169B1177F7A}"/>
              </a:ext>
            </a:extLst>
          </p:cNvPr>
          <p:cNvSpPr>
            <a:spLocks xmlns:a="http://schemas.openxmlformats.org/drawingml/2006/main" noGrp="1"/>
          </p:cNvSpPr>
          <p:nvPr/>
        </p:nvSpPr>
        <p:spPr>
          <a:xfrm xmlns:a="http://schemas.openxmlformats.org/drawingml/2006/main">
            <a:off x="7572375" y="3190875"/>
            <a:ext cx="542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4292E8"/>
                </a:solidFill>
              </a:defRPr>
            </a:pPr>
            <a:r>
              <a:rPr sz="1725" b="1" i="0">
                <a:solidFill>
                  <a:srgbClr val="4292E8"/>
                </a:solidFill>
              </a:rPr>
              <a:t>Evidence &amp; coordination</a:t>
            </a:r>
          </a:p>
        </p:txBody>
      </p:sp>
      <p:sp>
        <p:nvSpPr>
          <p:cNvPr id="8" name="">
            <a:extLst xmlns:a="http://schemas.openxmlformats.org/drawingml/2006/main">
              <a:ext uri="{FF2B5EF4-FFF2-40B4-BE49-F238E27FC236}">
                <a16:creationId xmlns:a16="http://schemas.microsoft.com/office/drawing/2014/main" id="{82041DC9-B384-40FA-AB97-6FD0C3BF420E}"/>
              </a:ext>
            </a:extLst>
          </p:cNvPr>
          <p:cNvSpPr>
            <a:spLocks xmlns:a="http://schemas.openxmlformats.org/drawingml/2006/main" noGrp="1"/>
          </p:cNvSpPr>
          <p:nvPr/>
        </p:nvSpPr>
        <p:spPr>
          <a:xfrm xmlns:a="http://schemas.openxmlformats.org/drawingml/2006/main">
            <a:off x="7572375" y="3590925"/>
            <a:ext cx="5286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3E4655"/>
                </a:solidFill>
              </a:defRPr>
            </a:pPr>
            <a:r>
              <a:rPr sz="1350" b="0" i="0">
                <a:solidFill>
                  <a:srgbClr val="3E4655"/>
                </a:solidFill>
              </a:rPr>
              <a:t>Facts / hypotheses / decisions / actions • provenance • confidence • Digital Twin • timeline • owners • follow-ups • contradiction + missing-info detection</a:t>
            </a:r>
          </a:p>
        </p:txBody>
      </p:sp>
      <p:sp>
        <p:nvSpPr>
          <p:cNvPr id="9" name="">
            <a:extLst xmlns:a="http://schemas.openxmlformats.org/drawingml/2006/main">
              <a:ext uri="{FF2B5EF4-FFF2-40B4-BE49-F238E27FC236}">
                <a16:creationId xmlns:a16="http://schemas.microsoft.com/office/drawing/2014/main" id="{7EE799F0-75DB-427E-83F6-1D129D2290D6}"/>
              </a:ext>
            </a:extLst>
          </p:cNvPr>
          <p:cNvSpPr>
            <a:spLocks xmlns:a="http://schemas.openxmlformats.org/drawingml/2006/main" noGrp="1"/>
          </p:cNvSpPr>
          <p:nvPr/>
        </p:nvSpPr>
        <p:spPr>
          <a:xfrm xmlns:a="http://schemas.openxmlformats.org/drawingml/2006/main">
            <a:off x="1381125" y="4714875"/>
            <a:ext cx="542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4292E8"/>
                </a:solidFill>
              </a:defRPr>
            </a:pPr>
            <a:r>
              <a:rPr sz="1725" b="1" i="0">
                <a:solidFill>
                  <a:srgbClr val="4292E8"/>
                </a:solidFill>
              </a:rPr>
              <a:t>Investigation &amp; prediction</a:t>
            </a:r>
          </a:p>
        </p:txBody>
      </p:sp>
      <p:sp>
        <p:nvSpPr>
          <p:cNvPr id="10" name="">
            <a:extLst xmlns:a="http://schemas.openxmlformats.org/drawingml/2006/main">
              <a:ext uri="{FF2B5EF4-FFF2-40B4-BE49-F238E27FC236}">
                <a16:creationId xmlns:a16="http://schemas.microsoft.com/office/drawing/2014/main" id="{5BE923D1-D486-4D56-B9A8-8A5DFCCFB335}"/>
              </a:ext>
            </a:extLst>
          </p:cNvPr>
          <p:cNvSpPr>
            <a:spLocks xmlns:a="http://schemas.openxmlformats.org/drawingml/2006/main" noGrp="1"/>
          </p:cNvSpPr>
          <p:nvPr/>
        </p:nvSpPr>
        <p:spPr>
          <a:xfrm xmlns:a="http://schemas.openxmlformats.org/drawingml/2006/main">
            <a:off x="1381125" y="5114925"/>
            <a:ext cx="5286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3E4655"/>
                </a:solidFill>
              </a:defRPr>
            </a:pPr>
            <a:r>
              <a:rPr sz="1350" b="0" i="0">
                <a:solidFill>
                  <a:srgbClr val="3E4655"/>
                </a:solidFill>
              </a:rPr>
              <a:t>Evidence Knowledge Graph • “What We Still Don’t Know” • RAG/vector memory • similar incidents • runbooks • anomaly correlation • blast radius • severity prediction • screenshot/log/chart analysis</a:t>
            </a:r>
          </a:p>
        </p:txBody>
      </p:sp>
      <p:sp>
        <p:nvSpPr>
          <p:cNvPr id="11" name="">
            <a:extLst xmlns:a="http://schemas.openxmlformats.org/drawingml/2006/main">
              <a:ext uri="{FF2B5EF4-FFF2-40B4-BE49-F238E27FC236}">
                <a16:creationId xmlns:a16="http://schemas.microsoft.com/office/drawing/2014/main" id="{DBF30664-EBA6-4516-A0BB-E7C64AA1AC66}"/>
              </a:ext>
            </a:extLst>
          </p:cNvPr>
          <p:cNvSpPr>
            <a:spLocks xmlns:a="http://schemas.openxmlformats.org/drawingml/2006/main" noGrp="1"/>
          </p:cNvSpPr>
          <p:nvPr/>
        </p:nvSpPr>
        <p:spPr>
          <a:xfrm xmlns:a="http://schemas.openxmlformats.org/drawingml/2006/main">
            <a:off x="7572375" y="4714875"/>
            <a:ext cx="542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4292E8"/>
                </a:solidFill>
              </a:defRPr>
            </a:pPr>
            <a:r>
              <a:rPr sz="1725" b="1" i="0">
                <a:solidFill>
                  <a:srgbClr val="4292E8"/>
                </a:solidFill>
              </a:rPr>
              <a:t>Controlled operations &amp; learning</a:t>
            </a:r>
          </a:p>
        </p:txBody>
      </p:sp>
      <p:sp>
        <p:nvSpPr>
          <p:cNvPr id="12" name="">
            <a:extLst xmlns:a="http://schemas.openxmlformats.org/drawingml/2006/main">
              <a:ext uri="{FF2B5EF4-FFF2-40B4-BE49-F238E27FC236}">
                <a16:creationId xmlns:a16="http://schemas.microsoft.com/office/drawing/2014/main" id="{3A251599-97EB-494B-B7FA-FD1923FC31F7}"/>
              </a:ext>
            </a:extLst>
          </p:cNvPr>
          <p:cNvSpPr>
            <a:spLocks xmlns:a="http://schemas.openxmlformats.org/drawingml/2006/main" noGrp="1"/>
          </p:cNvSpPr>
          <p:nvPr/>
        </p:nvSpPr>
        <p:spPr>
          <a:xfrm xmlns:a="http://schemas.openxmlformats.org/drawingml/2006/main">
            <a:off x="7572375" y="5114925"/>
            <a:ext cx="5286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3E4655"/>
                </a:solidFill>
              </a:defRPr>
            </a:pPr>
            <a:r>
              <a:rPr sz="1350" b="0" i="0">
                <a:solidFill>
                  <a:srgbClr val="3E4655"/>
                </a:solidFill>
              </a:rPr>
              <a:t>Jira / Slack / PagerDuty / monitoring tool calls • WebSocket dashboard • RBAC • human approval • action aging • recovery verification • audit trail • replay • analytics • automatic postmortem</a:t>
            </a:r>
          </a:p>
        </p:txBody>
      </p:sp>
      <p:sp>
        <p:nvSpPr>
          <p:cNvPr id="13" name="">
            <a:extLst xmlns:a="http://schemas.openxmlformats.org/drawingml/2006/main">
              <a:ext uri="{FF2B5EF4-FFF2-40B4-BE49-F238E27FC236}">
                <a16:creationId xmlns:a16="http://schemas.microsoft.com/office/drawing/2014/main" id="{8046BD54-51FF-411A-AA69-BB33E1914F3B}"/>
              </a:ext>
            </a:extLst>
          </p:cNvPr>
          <p:cNvSpPr>
            <a:spLocks xmlns:a="http://schemas.openxmlformats.org/drawingml/2006/main" noGrp="1"/>
          </p:cNvSpPr>
          <p:nvPr/>
        </p:nvSpPr>
        <p:spPr>
          <a:xfrm xmlns:a="http://schemas.openxmlformats.org/drawingml/2006/main">
            <a:off x="1381125" y="6267450"/>
            <a:ext cx="1133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i="0">
                <a:solidFill>
                  <a:srgbClr val="10141E"/>
                </a:solidFill>
              </a:defRPr>
            </a:pPr>
            <a:r>
              <a:rPr sz="1275" b="1" i="0">
                <a:solidFill>
                  <a:srgbClr val="10141E"/>
                </a:solidFill>
              </a:rPr>
              <a:t>Expected Impact &amp; Future Vision: Faster alignment, safer evidence-led decisions, clearer accountability, and a living incident memory that helps every team recover and learn faster after each outage.</a:t>
            </a:r>
          </a:p>
        </p:txBody>
      </p:sp>
    </p:spTree>
    <p:extLst>
      <p:ext uri="{BB962C8B-B14F-4D97-AF65-F5344CB8AC3E}">
        <p14:creationId xmlns:p14="http://schemas.microsoft.com/office/powerpoint/2010/main" val="8612547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2026-08-29T09:37:12.3550000Z</dcterms:created>
  <dcterms:modified xsi:type="dcterms:W3CDTF">2026-08-29T09:37:12.3550000Z</dcterms:modified>
</coreProperties>
</file>